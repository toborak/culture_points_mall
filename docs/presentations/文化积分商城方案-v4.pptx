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F2B544">
              <a:alpha val="15000"/>
            </a:srgbClr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572000"/>
            <a:ext cx="5486400" cy="5486400"/>
          </a:xfrm>
          <a:prstGeom prst="ellipse">
            <a:avLst/>
          </a:prstGeom>
          <a:solidFill>
            <a:srgbClr val="5BD9CC">
              <a:alpha val="8000"/>
            </a:srgbClr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· 2026 HACKATHON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文化积分商城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智能运营平台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钉钉里的企业文化 AI 运营官 · 开放生态平台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15214A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72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457200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15214A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4572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MCP 生态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457200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15214A"/>
          </a:solidFill>
          <a:ln w="12700">
            <a:solidFill>
              <a:srgbClr val="F177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4572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想象空间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760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(Gin) · MCP Server · 4 周交付 · 单二进制部署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· 项目定位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1737360" y="1417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把企业文化变成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737360" y="2331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可被任意 AI 操控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的中台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73736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我们不是把 Excel 搬上线，而是重构企业文化运营的底层范式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3474720" cy="14630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4572000"/>
            <a:ext cx="73152" cy="14630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800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</a:t>
            </a:r>
            <a:pPr indent="0" marL="0">
              <a:buNone/>
            </a:pPr>
            <a:r>
              <a:rPr lang="en-US" sz="14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燃料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5394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可量化的文化激励单位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4572000"/>
            <a:ext cx="3474720" cy="14630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4572000"/>
            <a:ext cx="73152" cy="1463040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4800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14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5394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自动编排全链路运营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572000"/>
            <a:ext cx="3474720" cy="14630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4572000"/>
            <a:ext cx="73152" cy="1463040"/>
          </a:xfrm>
          <a:prstGeom prst="rect">
            <a:avLst/>
          </a:prstGeom>
          <a:solidFill>
            <a:srgbClr val="F177B3"/>
          </a:solidFill>
          <a:ln w="12700">
            <a:solidFill>
              <a:srgbClr val="F177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4800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pPr indent="0" marL="0">
              <a:buNone/>
            </a:pPr>
            <a:r>
              <a:rPr lang="en-US" sz="14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神经接口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95360" y="5394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开放给任意 AI 客户端调用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· 背景与痛点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时代的文化积分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误差不可追溯 · 流程不透明 · 规则不闭环 · 沉淀难量化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94960" cy="205740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图一 · 误扣分案例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无审计日志，陈先生被错扣 4 分至今无法追溯。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94960" cy="205740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全人工 HR 加减分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手工操作公平性存疑，员工申诉无据可依。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394960" cy="205740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434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005840" y="5440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扫码即扣分 BUG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760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 TCC 事务校验 — 没抽奖也被扣分（图二）。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4251960"/>
            <a:ext cx="5394960" cy="205740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4434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583680" y="5440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无成就沉淀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5760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频次低、无积累，文化氛围难以量化。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· 项目定位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三大差异化叙事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智能化 · 开放生态 · SaaS 想象 — 路演反复强调的三条主线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93592" cy="4206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91440" cy="42062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HR-Agent · 自然语言运营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一句话即可发起活动 — 等于一支文化运营团队。建活动、发卡片、群机器人、生成海报，全自动跑完。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5486400"/>
            <a:ext cx="3017520" cy="0"/>
          </a:xfrm>
          <a:prstGeom prst="line">
            <a:avLst/>
          </a:prstGeom>
          <a:noFill/>
          <a:ln w="9525">
            <a:solidFill>
              <a:srgbClr val="2A3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577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4.6 Function Calling + Go MCP 工具集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965960"/>
            <a:ext cx="3593592" cy="4206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16552" y="1965960"/>
            <a:ext cx="91440" cy="4206240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36592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开放生态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· 跨客户端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36592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把平台能力 MCP 化 — Claude Desktop / ChatGPT / Cursor 等任意 AI 客户端均可调用。国内首个企业内场景 MCP 落地。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5486400"/>
            <a:ext cx="3017520" cy="0"/>
          </a:xfrm>
          <a:prstGeom prst="line">
            <a:avLst/>
          </a:prstGeom>
          <a:noFill/>
          <a:ln w="9525">
            <a:solidFill>
              <a:srgbClr val="2A3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5577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JSON-RPC over SSE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93024" y="1965960"/>
            <a:ext cx="3593592" cy="4206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3024" y="1965960"/>
            <a:ext cx="91440" cy="4206240"/>
          </a:xfrm>
          <a:prstGeom prst="rect">
            <a:avLst/>
          </a:prstGeom>
          <a:solidFill>
            <a:srgbClr val="F177B3"/>
          </a:solidFill>
          <a:ln w="12700">
            <a:solidFill>
              <a:srgbClr val="F177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13064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513064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想象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13064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跨企业文化指数榜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13064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脱敏 + opt-in 的跨企业指数榜 — 从一个企业工具，进化为整个行业的文化数据基础设施。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13064" y="5486400"/>
            <a:ext cx="3017520" cy="0"/>
          </a:xfrm>
          <a:prstGeom prst="line">
            <a:avLst/>
          </a:prstGeom>
          <a:noFill/>
          <a:ln w="9525">
            <a:solidFill>
              <a:srgbClr val="2A3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3064" y="5577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演示 → Phase 2 邀请 → Phase 3 基础设施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① · 王牌功能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HR-Agent · 自然语言一键运营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一句话 → Agent 自动跑完 6 步全链路编排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0" cy="41605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B2D14"/>
          </a:solidFill>
          <a:ln w="6350">
            <a:solidFill>
              <a:srgbClr val="F2B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后台 · 输入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“给销售部发一场月底冲刺活动，下周三 18:00，奖励 50 分，限 30 人，海报用红色科技风”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4160520"/>
            <a:ext cx="4937760" cy="0"/>
          </a:xfrm>
          <a:prstGeom prst="line">
            <a:avLst/>
          </a:prstGeom>
          <a:noFill/>
          <a:ln w="9525">
            <a:solidFill>
              <a:srgbClr val="2A3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9768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300" kern="0" dirty="0">
                <a:solidFill>
                  <a:srgbClr val="5BD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执行报告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DE0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活动已创建（ID: ACT-20260530）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DE0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钉钉日程已发送 · 销售部 28 人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DE0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红色科技风海报已生成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DE0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群机器人已播报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DE0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互动卡片已推送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耗时 8.4s · 5 个工具 · 全部成功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5120640" cy="41605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自动执行 · 6 步编排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2651760"/>
            <a:ext cx="384048" cy="38404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活动创建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8712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 DB · 设置规则参数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3218688"/>
            <a:ext cx="384048" cy="38404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钉钉日程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78040" y="34381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给目标员工建日程邀请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3785616"/>
            <a:ext cx="384048" cy="38404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内容生成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40050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海报 + 群推送文案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4352544"/>
            <a:ext cx="384048" cy="38404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互动卡片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4572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群内发可点击报名卡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919472"/>
            <a:ext cx="384048" cy="38404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4901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群机器人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51389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部门群播报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5486400"/>
            <a:ext cx="384048" cy="384048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5468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执行报告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78040" y="57058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返回耗时 / 成功率 / 工单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② · 技术深度爆点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API +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把平台能力全部 MCP 化 · 任意 AI 客户端可调用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0" cy="1828800"/>
          </a:xfrm>
          <a:prstGeom prst="rect">
            <a:avLst/>
          </a:prstGeom>
          <a:solidFill>
            <a:srgbClr val="1A2855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OpenAPI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 API + OAuth 接入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适合：企业自有系统对接、传统集成场景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120640" cy="1828800"/>
          </a:xfrm>
          <a:prstGeom prst="rect">
            <a:avLst/>
          </a:prstGeom>
          <a:solidFill>
            <a:srgbClr val="3B2D14"/>
          </a:solidFill>
          <a:ln w="9525">
            <a:solidFill>
              <a:srgbClr val="F2B5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19456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94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王牌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4380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完整工具集：查积分 / 加分 / 发活动 / 查排名 / 颁发徽章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适合：Claude Desktop · ChatGPT · Cursor · 企业自有 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10881360" cy="21488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杀手锏 · 现场剧本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92640" y="422452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A1D32"/>
          </a:solidFill>
          <a:ln w="9525">
            <a:solidFill>
              <a:srgbClr val="F177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4224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75s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" y="4800600"/>
            <a:ext cx="457200" cy="457200"/>
          </a:xfrm>
          <a:prstGeom prst="ellipse">
            <a:avLst/>
          </a:prstGeom>
          <a:solidFill>
            <a:srgbClr val="1A2855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5303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Claude Desktop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623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使用已知稳定版本 · 预录视频备份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4800600"/>
            <a:ext cx="457200" cy="457200"/>
          </a:xfrm>
          <a:prstGeom prst="ellipse">
            <a:avLst/>
          </a:prstGeom>
          <a:solidFill>
            <a:srgbClr val="1A2855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66160" y="5303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 MCP Server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5623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长连接 · 工具列表自动加载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4800600"/>
            <a:ext cx="457200" cy="457200"/>
          </a:xfrm>
          <a:prstGeom prst="ellipse">
            <a:avLst/>
          </a:prstGeom>
          <a:solidFill>
            <a:srgbClr val="1A2855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5303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输入指令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5623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“查本月销售部前 3 名，给第一加 100 分，颁发『销售之星』”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61120" y="4800600"/>
            <a:ext cx="457200" cy="457200"/>
          </a:xfrm>
          <a:prstGeom prst="ellipse">
            <a:avLst/>
          </a:prstGeom>
          <a:solidFill>
            <a:srgbClr val="F2B544"/>
          </a:solidFill>
          <a:ln w="9525">
            <a:solidFill>
              <a:srgbClr val="F2B5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0" y="5303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直接执行 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0" y="5623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评委亲眼见证 · 跨客户端能力被调用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③ - ⑦ · 辅助亮点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项 AI 亮点 · 张力拉满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内容生成 · 数据洞察 · 盲盒主持 · 跨企业榜 · 反作弊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73152" cy="777240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20391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内容生成助手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3500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一句话生成活动文案 / 海报 / 钉钉推送话术 / 品牌二维码 · HR 确认后全渠道分发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418320" y="222199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5BD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0" y="2221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通义万相 / SDXL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0881360" cy="777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34640"/>
            <a:ext cx="73152" cy="7772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26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00200" y="29077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文化数据洞察 Dashboard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32186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「为什么研发部参与度下降 30%？」→ SQL Agent 归因 + RAG 历史 + 策略推荐 — 给老板看的杀手锏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18320" y="309067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F2B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3090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+ RAG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10881360" cy="777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03320"/>
            <a:ext cx="73152" cy="777240"/>
          </a:xfrm>
          <a:prstGeom prst="rect">
            <a:avLst/>
          </a:prstGeom>
          <a:solidFill>
            <a:srgbClr val="F177B3"/>
          </a:solidFill>
          <a:ln w="12700">
            <a:solidFill>
              <a:srgbClr val="F177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7947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00200" y="37764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盲盒 AI 互动主持人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408736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抽奖弹出 Live2D 形象 + TTS 语音 + LLM 实时文案 — 现场张力拉满，评委记忆点之一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18320" y="395935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F177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0" y="3959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Live2D + Edge-TTS + LLM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572000"/>
            <a:ext cx="10881360" cy="777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572000"/>
            <a:ext cx="73152" cy="777240"/>
          </a:xfrm>
          <a:prstGeom prst="rect">
            <a:avLst/>
          </a:prstGeom>
          <a:solidFill>
            <a:srgbClr val="B49AFF"/>
          </a:solidFill>
          <a:ln w="12700">
            <a:solidFill>
              <a:srgbClr val="B49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663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600200" y="46451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跨企业文化指数榜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00200" y="49560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脱敏 + opt-in · 企业文化指数与行业排行（互联网/电商/外贸）—— SaaS 想象空间入口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18320" y="482803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B49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4828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脱敏聚合 · 多租户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5440680"/>
            <a:ext cx="73152" cy="777240"/>
          </a:xfrm>
          <a:prstGeom prst="rect">
            <a:avLst/>
          </a:prstGeom>
          <a:solidFill>
            <a:srgbClr val="F26E72"/>
          </a:solidFill>
          <a:ln w="12700">
            <a:solidFill>
              <a:srgbClr val="F26E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532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600200" y="55138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反作弊与异常检测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00200" y="58247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IP 多扫码 / 积分异常膨胀 / 兑换频次异常 → 孤立森林 + LLM 解释 → 自动工单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418320" y="569671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F26E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5696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孤立森林 + LLM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钉钉深度集成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钉钉集成边界 · 已核验官方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透明告知：✓ 实施 6 项 / △ 谨慎使用 / × 自建签到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93592" cy="4206240"/>
          </a:xfrm>
          <a:prstGeom prst="rect">
            <a:avLst/>
          </a:prstGeom>
          <a:solidFill>
            <a:srgbClr val="0E2A28"/>
          </a:solidFill>
          <a:ln w="9525">
            <a:solidFill>
              <a:srgbClr val="6DE0A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E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实施清单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项官方 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3108960"/>
            <a:ext cx="3044952" cy="0"/>
          </a:xfrm>
          <a:prstGeom prst="line">
            <a:avLst/>
          </a:prstGeom>
          <a:noFill/>
          <a:ln w="6350">
            <a:solidFill>
              <a:srgbClr val="6DE0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活动日程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4930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 = 报名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互动卡片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9502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群内可点击报名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工作通知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074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asyncsend_v2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6634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群机器人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8646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周报 / 月报 / 名单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51206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审批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3218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异议 / 大额调整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5778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工作台卡片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7790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首页一屏直达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16552" y="1965960"/>
            <a:ext cx="3593592" cy="4206240"/>
          </a:xfrm>
          <a:prstGeom prst="rect">
            <a:avLst/>
          </a:prstGeom>
          <a:solidFill>
            <a:srgbClr val="2D2614"/>
          </a:solidFill>
          <a:ln w="9525">
            <a:solidFill>
              <a:srgbClr val="F2B5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90872" y="22402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 谨慎使用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90872" y="27432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配额受限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90872" y="3108960"/>
            <a:ext cx="3044952" cy="0"/>
          </a:xfrm>
          <a:prstGeom prst="line">
            <a:avLst/>
          </a:prstGeom>
          <a:noFill/>
          <a:ln w="6350">
            <a:solidFill>
              <a:srgbClr val="F2B5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32918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 强提醒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90872" y="34930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仅企业自建 + 专业版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90872" y="39502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只用于关键事件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0872" y="44074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中奖通知 / 异议结果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90872" y="51206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配额预算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90872" y="53218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钉钉专业版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90872" y="55778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50万次/月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90872" y="57790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标准版几天爆配额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93024" y="1965960"/>
            <a:ext cx="3593592" cy="4206240"/>
          </a:xfrm>
          <a:prstGeom prst="rect">
            <a:avLst/>
          </a:prstGeom>
          <a:solidFill>
            <a:srgbClr val="2D1A28"/>
          </a:solidFill>
          <a:ln w="9525">
            <a:solidFill>
              <a:srgbClr val="F177B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67344" y="22402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自建模块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467344" y="27432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钉钉 API 不支持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67344" y="3108960"/>
            <a:ext cx="3044952" cy="0"/>
          </a:xfrm>
          <a:prstGeom prst="line">
            <a:avLst/>
          </a:prstGeom>
          <a:noFill/>
          <a:ln w="6350">
            <a:solidFill>
              <a:srgbClr val="F177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67344" y="32918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签到模块自研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67344" y="34930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考勤 API 只读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67344" y="42062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+ 二维码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67344" y="44074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动态刷新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67344" y="46634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WiFi 围栏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67344" y="48646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精度校验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67344" y="512064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防代签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67344" y="53218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随机题校验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里程碑与排期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周交付 · 黑客马拉松排期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2026-05-22 起 · 必保 5 项 · 可砍 2 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7280" cy="96012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05/22 - 05/28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965960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08483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F2B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848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项目骨架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+ 多租户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1965960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08483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F2B5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0848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CRUD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 / 活动 / 商品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208483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F2B5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0848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自研签到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H5+QR+GPS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044952"/>
            <a:ext cx="1097280" cy="960120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36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" y="3593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05/29 - 06/04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0" y="3044952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3163824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5BD9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HR-Agent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11680" y="3502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编排器 + MCP 工具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3044952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3163824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5BD9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0624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对外 MCP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06240" y="3502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+ REST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123944"/>
            <a:ext cx="1097280" cy="960120"/>
          </a:xfrm>
          <a:prstGeom prst="rect">
            <a:avLst/>
          </a:prstGeom>
          <a:solidFill>
            <a:srgbClr val="F177B3"/>
          </a:solidFill>
          <a:ln w="12700">
            <a:solidFill>
              <a:srgbClr val="F177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2153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0080" y="46725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06/05 - 06/11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0" y="4123944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0" y="4242816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F177B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4242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011680" y="4233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钉钉集成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011680" y="45811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日程 / 卡片 / 机器人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023360" y="4123944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7840" y="4242816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F177B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4242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06240" y="4233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数据洞察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206240" y="45811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+ RAG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4123944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72400" y="4242816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F177B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4242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0" y="4233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跨企业榜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00800" y="45811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脱敏 + 虚拟对手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5202936"/>
            <a:ext cx="1097280" cy="960120"/>
          </a:xfrm>
          <a:prstGeom prst="rect">
            <a:avLst/>
          </a:prstGeom>
          <a:solidFill>
            <a:srgbClr val="B49AFF"/>
          </a:solidFill>
          <a:ln w="12700">
            <a:solidFill>
              <a:srgbClr val="B49A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2943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40080" y="5751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06/12 - 06/18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28800" y="5202936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0" y="5321808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B49A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0" y="5321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011680" y="53126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工作台卡片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011680" y="5660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一屏直达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023360" y="5202936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7840" y="5321808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B49A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77840" y="5321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206240" y="53126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盲盒主持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206240" y="5660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Live2D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17920" y="5202936"/>
            <a:ext cx="2103120" cy="9601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72400" y="5321808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0A1331"/>
          </a:solidFill>
          <a:ln w="6350">
            <a:solidFill>
              <a:srgbClr val="B49A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72400" y="5321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400800" y="53126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彩排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400800" y="5660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录制 + 现场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686800" y="1965960"/>
            <a:ext cx="2834640" cy="4160520"/>
          </a:xfrm>
          <a:prstGeom prst="rect">
            <a:avLst/>
          </a:prstGeom>
          <a:solidFill>
            <a:srgbClr val="1A2855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88696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交付优先级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869680" y="2560320"/>
            <a:ext cx="73152" cy="16916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0684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必保 (MUST)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006840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HR-Agent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006840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开放 MCP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9006840" y="3419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盲盒主持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9006840" y="3712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自研签到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006840" y="4005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钉钉日程/卡片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869680" y="4526280"/>
            <a:ext cx="73152" cy="960120"/>
          </a:xfrm>
          <a:prstGeom prst="rect">
            <a:avLst/>
          </a:prstGeom>
          <a:solidFill>
            <a:srgbClr val="F26E72"/>
          </a:solidFill>
          <a:ln w="12700">
            <a:solidFill>
              <a:srgbClr val="F26E7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0684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时间不够可砍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900684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反作弊（首砍）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9006840" y="5093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跨企业（留 1 虚拟对手）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869680" y="5760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天 · 单二进制部署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· 路演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分钟 Demo 脚本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帧 · MCP 杀手锏在第 3 帧 · 备份预录视频兜底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7315200" cy="5029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320040" cy="320040"/>
          </a:xfrm>
          <a:prstGeom prst="ellipse">
            <a:avLst/>
          </a:prstGeom>
          <a:solidFill>
            <a:srgbClr val="1A2855"/>
          </a:solidFill>
          <a:ln w="6350">
            <a:solidFill>
              <a:srgbClr val="2A3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 · 痛点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痛点截图（图一图二）引出问题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32888"/>
            <a:ext cx="7315200" cy="5029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624328"/>
            <a:ext cx="320040" cy="320040"/>
          </a:xfrm>
          <a:prstGeom prst="ellipse">
            <a:avLst/>
          </a:prstGeom>
          <a:solidFill>
            <a:srgbClr val="1A2855"/>
          </a:solidFill>
          <a:ln w="6350">
            <a:solidFill>
              <a:srgbClr val="2A3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24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670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578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5786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说“发个销售部冲刺活动” · 评委手机现场收到钉钉推送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099816"/>
            <a:ext cx="7315200" cy="502920"/>
          </a:xfrm>
          <a:prstGeom prst="rect">
            <a:avLst/>
          </a:prstGeom>
          <a:solidFill>
            <a:srgbClr val="3B2D14"/>
          </a:solidFill>
          <a:ln w="9525">
            <a:solidFill>
              <a:srgbClr val="F2B5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191256"/>
            <a:ext cx="320040" cy="320040"/>
          </a:xfrm>
          <a:prstGeom prst="ellipse">
            <a:avLst/>
          </a:prstGeom>
          <a:solidFill>
            <a:srgbClr val="F2B544"/>
          </a:solidFill>
          <a:ln w="6350">
            <a:solidFill>
              <a:srgbClr val="F2B5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91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2369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3145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开放 MCP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31455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连 MCP Server · 一句话查前 3 并加分 · Claude 直接执行 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666744"/>
            <a:ext cx="7315200" cy="5029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758184"/>
            <a:ext cx="320040" cy="320040"/>
          </a:xfrm>
          <a:prstGeom prst="ellipse">
            <a:avLst/>
          </a:prstGeom>
          <a:solidFill>
            <a:srgbClr val="1A2855"/>
          </a:solidFill>
          <a:ln w="6350">
            <a:solidFill>
              <a:srgbClr val="2A3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758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3803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3712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签到 + 加分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37124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员工扫码 → 自研签到校验 → 积分入账 + 成就徽章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233672"/>
            <a:ext cx="7315200" cy="5029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325112"/>
            <a:ext cx="320040" cy="320040"/>
          </a:xfrm>
          <a:prstGeom prst="ellipse">
            <a:avLst/>
          </a:prstGeom>
          <a:solidFill>
            <a:srgbClr val="1A2855"/>
          </a:solidFill>
          <a:ln w="6350">
            <a:solidFill>
              <a:srgbClr val="2A36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325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370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74520" y="4279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盲盒抽奖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主持 Live2D + 语音互动 · 中奖瞬间张力拉满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800600"/>
            <a:ext cx="7315200" cy="5029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892040"/>
            <a:ext cx="320040" cy="320040"/>
          </a:xfrm>
          <a:prstGeom prst="ellipse">
            <a:avLst/>
          </a:prstGeom>
          <a:solidFill>
            <a:srgbClr val="1A2855"/>
          </a:solidFill>
          <a:ln w="6350">
            <a:solidFill>
              <a:srgbClr val="2A36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892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4937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874520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 + 跨企业榜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749040" y="4846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“为什么参与度下降” → AI 归因 + 我司互联网行业第 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367528"/>
            <a:ext cx="7315200" cy="50292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5458968"/>
            <a:ext cx="320040" cy="320040"/>
          </a:xfrm>
          <a:prstGeom prst="ellipse">
            <a:avLst/>
          </a:prstGeom>
          <a:solidFill>
            <a:srgbClr val="1A2855"/>
          </a:solidFill>
          <a:ln w="6350">
            <a:solidFill>
              <a:srgbClr val="2A36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458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88720" y="55046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874520" y="5413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收官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749040" y="5413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架构图 + 三大叙事金句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0" y="1965960"/>
            <a:ext cx="3291840" cy="2286000"/>
          </a:xfrm>
          <a:prstGeom prst="rect">
            <a:avLst/>
          </a:prstGeom>
          <a:solidFill>
            <a:srgbClr val="1A2855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41248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时间分配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412480" y="2560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281160" y="2615184"/>
            <a:ext cx="1645920" cy="109728"/>
          </a:xfrm>
          <a:prstGeom prst="rect">
            <a:avLst/>
          </a:prstGeom>
          <a:solidFill>
            <a:srgbClr val="2A3666"/>
          </a:solidFill>
          <a:ln w="12700">
            <a:solidFill>
              <a:srgbClr val="2A36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81160" y="2615184"/>
            <a:ext cx="658368" cy="109728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0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412480" y="27980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281160" y="2852928"/>
            <a:ext cx="1645920" cy="109728"/>
          </a:xfrm>
          <a:prstGeom prst="rect">
            <a:avLst/>
          </a:prstGeom>
          <a:solidFill>
            <a:srgbClr val="2A3666"/>
          </a:solidFill>
          <a:ln w="12700">
            <a:solidFill>
              <a:srgbClr val="2A36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81160" y="2852928"/>
            <a:ext cx="1316736" cy="109728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972800" y="27980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412480" y="30358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MCP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281160" y="3090672"/>
            <a:ext cx="1645920" cy="109728"/>
          </a:xfrm>
          <a:prstGeom prst="rect">
            <a:avLst/>
          </a:prstGeom>
          <a:solidFill>
            <a:srgbClr val="2A3666"/>
          </a:solidFill>
          <a:ln w="12700">
            <a:solidFill>
              <a:srgbClr val="2A366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81160" y="3090672"/>
            <a:ext cx="1645920" cy="109728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972800" y="3035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412480" y="32735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签到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281160" y="3328416"/>
            <a:ext cx="1645920" cy="109728"/>
          </a:xfrm>
          <a:prstGeom prst="rect">
            <a:avLst/>
          </a:prstGeom>
          <a:solidFill>
            <a:srgbClr val="2A3666"/>
          </a:solidFill>
          <a:ln w="12700">
            <a:solidFill>
              <a:srgbClr val="2A366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81160" y="3328416"/>
            <a:ext cx="987552" cy="109728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972800" y="3273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412480" y="35112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盲盒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281160" y="3566160"/>
            <a:ext cx="1645920" cy="109728"/>
          </a:xfrm>
          <a:prstGeom prst="rect">
            <a:avLst/>
          </a:prstGeom>
          <a:solidFill>
            <a:srgbClr val="2A3666"/>
          </a:solidFill>
          <a:ln w="12700">
            <a:solidFill>
              <a:srgbClr val="2A366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81160" y="3566160"/>
            <a:ext cx="1316736" cy="109728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972800" y="3511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412480" y="37490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281160" y="3803904"/>
            <a:ext cx="1645920" cy="109728"/>
          </a:xfrm>
          <a:prstGeom prst="rect">
            <a:avLst/>
          </a:prstGeom>
          <a:solidFill>
            <a:srgbClr val="2A3666"/>
          </a:solidFill>
          <a:ln w="12700">
            <a:solidFill>
              <a:srgbClr val="2A36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81160" y="3803904"/>
            <a:ext cx="1316736" cy="109728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972800" y="3749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412480" y="39867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收官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281160" y="4041648"/>
            <a:ext cx="1645920" cy="109728"/>
          </a:xfrm>
          <a:prstGeom prst="rect">
            <a:avLst/>
          </a:prstGeom>
          <a:solidFill>
            <a:srgbClr val="2A3666"/>
          </a:solidFill>
          <a:ln w="12700">
            <a:solidFill>
              <a:srgbClr val="2A366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81160" y="4041648"/>
            <a:ext cx="329184" cy="109728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972800" y="3986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95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229600" y="4434840"/>
            <a:ext cx="3291840" cy="1691640"/>
          </a:xfrm>
          <a:prstGeom prst="rect">
            <a:avLst/>
          </a:prstGeom>
          <a:solidFill>
            <a:srgbClr val="3B2D14"/>
          </a:solidFill>
          <a:ln w="9525">
            <a:solidFill>
              <a:srgbClr val="F2B5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8412480" y="4526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5'45"</a:t>
            </a:r>
            <a:endParaRPr lang="en-US" sz="3800" dirty="0"/>
          </a:p>
        </p:txBody>
      </p:sp>
      <p:sp>
        <p:nvSpPr>
          <p:cNvPr id="79" name="Text 77"/>
          <p:cNvSpPr/>
          <p:nvPr/>
        </p:nvSpPr>
        <p:spPr>
          <a:xfrm>
            <a:off x="8412480" y="5166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总时长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412480" y="5486400"/>
            <a:ext cx="2926080" cy="0"/>
          </a:xfrm>
          <a:prstGeom prst="line">
            <a:avLst/>
          </a:prstGeom>
          <a:noFill/>
          <a:ln w="6350">
            <a:solidFill>
              <a:srgbClr val="2A366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12480" y="5577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关键张力点：第 3 帧 MCP 调用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412480" y="5852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备份方案：预录视频兜底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· 竞赛亮点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评委一页纸 · 8 维度评分亮点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 · AI · 深度 · 生态 · 商业 · 严谨 · 演示 · 落地 — 每维都有杀手锏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1920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73152" cy="19202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560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国内首个 MCP Agent 协议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在企业内部场景落地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965960"/>
            <a:ext cx="2606040" cy="1920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965960"/>
            <a:ext cx="73152" cy="19202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浓度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85032" y="2560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 AI 模块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85032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内容 / 洞察 / 反作弊 / 主持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2606040" cy="1920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965960"/>
            <a:ext cx="73152" cy="1920240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技术深度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73952" y="2560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自研 + 多 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JSON-RPC + 多租户 + TCC 事务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1965960"/>
            <a:ext cx="2606040" cy="1920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06840" y="1965960"/>
            <a:ext cx="73152" cy="1920240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2872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生态价值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62872" y="2560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 AI 客户端可调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62872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 / Cursor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2606040" cy="1920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069080"/>
            <a:ext cx="73152" cy="1920240"/>
          </a:xfrm>
          <a:prstGeom prst="rect">
            <a:avLst/>
          </a:prstGeom>
          <a:solidFill>
            <a:srgbClr val="F177B3"/>
          </a:solidFill>
          <a:ln w="12700">
            <a:solidFill>
              <a:srgbClr val="F177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商业想象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4663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跨企业 SaaS 雏形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6112" y="5440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中国企业文化数据平台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9000" y="4069080"/>
            <a:ext cx="2606040" cy="1920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29000" y="4069080"/>
            <a:ext cx="73152" cy="1920240"/>
          </a:xfrm>
          <a:prstGeom prst="rect">
            <a:avLst/>
          </a:prstGeom>
          <a:solidFill>
            <a:srgbClr val="6DE0A4"/>
          </a:solidFill>
          <a:ln w="12700">
            <a:solidFill>
              <a:srgbClr val="6DE0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5032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E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工程严谨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85032" y="4663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钉钉 API 边界已核验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85032" y="5440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专业版预算 · 签到自建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069080"/>
            <a:ext cx="2606040" cy="1920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4069080"/>
            <a:ext cx="73152" cy="1920240"/>
          </a:xfrm>
          <a:prstGeom prst="rect">
            <a:avLst/>
          </a:prstGeom>
          <a:solidFill>
            <a:srgbClr val="B49AFF"/>
          </a:solidFill>
          <a:ln w="12700">
            <a:solidFill>
              <a:srgbClr val="B49A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可演示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73952" y="4663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张力拉满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73952" y="5440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+ AI 语音主持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06840" y="4069080"/>
            <a:ext cx="2606040" cy="1920240"/>
          </a:xfrm>
          <a:prstGeom prst="rect">
            <a:avLst/>
          </a:prstGeom>
          <a:solidFill>
            <a:srgbClr val="15214A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06840" y="4069080"/>
            <a:ext cx="73152" cy="19202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62872" y="4297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可落地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62872" y="46634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周可交付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262872" y="5440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已对接钉钉 · 单二进制部署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743200"/>
            <a:ext cx="6400800" cy="6400800"/>
          </a:xfrm>
          <a:prstGeom prst="ellipse">
            <a:avLst/>
          </a:prstGeom>
          <a:solidFill>
            <a:srgbClr val="F2B544">
              <a:alpha val="12000"/>
            </a:srgbClr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F177B3">
              <a:alpha val="8000"/>
            </a:srgbClr>
          </a:solidFill>
          <a:ln w="12700">
            <a:solidFill>
              <a:srgbClr val="F177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三大叙事金句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路演反复强调的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三句话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91440" cy="71323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“我们不是把 Excel 搬上线，而是把企业文化变成可被任意 AI 操控的中台。”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91440" cy="713232"/>
          </a:xfrm>
          <a:prstGeom prst="rect">
            <a:avLst/>
          </a:prstGeom>
          <a:solidFill>
            <a:srgbClr val="5BD9CC"/>
          </a:solidFill>
          <a:ln w="12700">
            <a:solidFill>
              <a:srgbClr val="5BD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91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3246120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“HR 一句话，钉钉里全套自动跑完。”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91440" cy="713232"/>
          </a:xfrm>
          <a:prstGeom prst="rect">
            <a:avLst/>
          </a:prstGeom>
          <a:solidFill>
            <a:srgbClr val="F177B3"/>
          </a:solidFill>
          <a:ln w="12700">
            <a:solidFill>
              <a:srgbClr val="F177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60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7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114800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“今天是一个企业的工具，明天是整个行业的基础设施。”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 &amp; 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AI OPERATING PLATFORM · v4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Points Mall · v4 · 项目方案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r" indent="0" marL="0">
              <a:buNone/>
            </a:pPr>
            <a:r>
              <a:rPr lang="en-US" sz="900" spc="200" kern="0" dirty="0">
                <a:solidFill>
                  <a:srgbClr val="859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文化积分商城方案 v4</dc:title>
  <dc:subject>PptxGenJS Presentation</dc:subject>
  <dc:creator>Culture Points Mall</dc:creator>
  <cp:lastModifiedBy>Culture Points Mall</cp:lastModifiedBy>
  <cp:revision>1</cp:revision>
  <dcterms:created xsi:type="dcterms:W3CDTF">2026-05-21T16:57:31Z</dcterms:created>
  <dcterms:modified xsi:type="dcterms:W3CDTF">2026-05-21T16:57:31Z</dcterms:modified>
</cp:coreProperties>
</file>