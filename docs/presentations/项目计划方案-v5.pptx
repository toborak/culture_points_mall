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0" y="365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D9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★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0515600" y="822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7E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2377440" cy="411480"/>
          </a:xfrm>
          <a:prstGeom prst="roundRect">
            <a:avLst>
              <a:gd name="adj" fmla="val 11111"/>
            </a:avLst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411480"/>
            <a:ext cx="2377440" cy="411480"/>
          </a:xfrm>
          <a:prstGeom prst="roundRect">
            <a:avLst>
              <a:gd name="adj" fmla="val 11111"/>
            </a:avLst>
          </a:prstGeom>
          <a:solidFill>
            <a:srgbClr val="FF4757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11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PROJECT PROPOSAL · v5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D9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文化积分商城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103327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文化积分商城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9436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智能运营平台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02920" y="213055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4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智能运营平台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539496" y="3374136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A1A1A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33375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38B6A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375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价值观驱动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322576" y="3374136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A1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2286000" y="333756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4FACFE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33375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智能化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922776" y="3374136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1A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3886200" y="333756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FF7EB3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33375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开放生态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57784" y="4123944"/>
            <a:ext cx="7498080" cy="1828800"/>
          </a:xfrm>
          <a:prstGeom prst="roundRect">
            <a:avLst>
              <a:gd name="adj" fmla="val 9000"/>
            </a:avLst>
          </a:prstGeom>
          <a:solidFill>
            <a:srgbClr val="FFD93D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" y="4069080"/>
            <a:ext cx="7498080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206240"/>
            <a:ext cx="7040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1A1A"/>
                </a:solidFill>
                <a:highlight>
                  <a:srgbClr val="FFD93D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核心价值观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为骨架 · 以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1A1A"/>
                </a:solidFill>
                <a:highlight>
                  <a:srgbClr val="FFD93D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积分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为燃料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highlight>
                  <a:srgbClr val="FF7EB3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为大脑 · 以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1A1A"/>
                </a:solidFill>
                <a:highlight>
                  <a:srgbClr val="FFD93D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协议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为开放接口
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构建"价值观定义 → 行为激励 → 数据沉淀 → 智能洞察"的完整闭环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0" y="3657600"/>
            <a:ext cx="2103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dirty="0">
                <a:solidFill>
                  <a:srgbClr val="000000"/>
                </a:solidFill>
              </a:rPr>
              <a:t>🧑‍💼</a:t>
            </a:r>
            <a:endParaRPr lang="en-US" sz="14000" dirty="0"/>
          </a:p>
        </p:txBody>
      </p:sp>
      <p:sp>
        <p:nvSpPr>
          <p:cNvPr id="24" name="Shape 22"/>
          <p:cNvSpPr/>
          <p:nvPr/>
        </p:nvSpPr>
        <p:spPr>
          <a:xfrm>
            <a:off x="9784080" y="512064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FFD93D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0" y="5120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HR · AI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Culture Points Mall · AI Operating Platform · Hackathon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CHAPTER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D9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 · 价值观落地的运营难题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 · 价值观落地的运营难题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"墙上写一套,做事另一套" — 现有共享 Excel 难以承载企业文化运营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7784" y="1746504"/>
            <a:ext cx="2743200" cy="2377440"/>
          </a:xfrm>
          <a:prstGeom prst="roundRect">
            <a:avLst>
              <a:gd name="adj" fmla="val 6923"/>
            </a:avLst>
          </a:prstGeom>
          <a:solidFill>
            <a:srgbClr val="FF475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691640"/>
            <a:ext cx="2743200" cy="2377440"/>
          </a:xfrm>
          <a:prstGeom prst="roundRect">
            <a:avLst>
              <a:gd name="adj" fmla="val 6923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874520"/>
            <a:ext cx="365760" cy="365760"/>
          </a:xfrm>
          <a:prstGeom prst="ellipse">
            <a:avLst/>
          </a:prstGeom>
          <a:solidFill>
            <a:srgbClr val="FF4757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📊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8562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数据载体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现状：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共享 Excel 单点管理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0632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误操作、并发冲突、无审计、负数积分异常无法预防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19856" y="1746504"/>
            <a:ext cx="2743200" cy="2377440"/>
          </a:xfrm>
          <a:prstGeom prst="roundRect">
            <a:avLst>
              <a:gd name="adj" fmla="val 6923"/>
            </a:avLst>
          </a:prstGeom>
          <a:solidFill>
            <a:srgbClr val="FF9F43"/>
          </a:solidFill>
          <a:ln/>
        </p:spPr>
      </p:sp>
      <p:sp>
        <p:nvSpPr>
          <p:cNvPr id="15" name="Shape 13"/>
          <p:cNvSpPr/>
          <p:nvPr/>
        </p:nvSpPr>
        <p:spPr>
          <a:xfrm>
            <a:off x="3364992" y="1691640"/>
            <a:ext cx="2743200" cy="2377440"/>
          </a:xfrm>
          <a:prstGeom prst="roundRect">
            <a:avLst>
              <a:gd name="adj" fmla="val 6923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47872" y="1874520"/>
            <a:ext cx="365760" cy="365760"/>
          </a:xfrm>
          <a:prstGeom prst="ellipse">
            <a:avLst/>
          </a:prstGeom>
          <a:solidFill>
            <a:srgbClr val="FF9F43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7872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⚙️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05072" y="18562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业务流程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47872" y="2377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现状：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HR 手工台账加减分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47872" y="30632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公平性存疑,员工无从核对,规则不透明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81928" y="1746504"/>
            <a:ext cx="2743200" cy="2377440"/>
          </a:xfrm>
          <a:prstGeom prst="roundRect">
            <a:avLst>
              <a:gd name="adj" fmla="val 6923"/>
            </a:avLst>
          </a:prstGeom>
          <a:solidFill>
            <a:srgbClr val="A55EEA"/>
          </a:solidFill>
          <a:ln/>
        </p:spPr>
      </p:sp>
      <p:sp>
        <p:nvSpPr>
          <p:cNvPr id="22" name="Shape 20"/>
          <p:cNvSpPr/>
          <p:nvPr/>
        </p:nvSpPr>
        <p:spPr>
          <a:xfrm>
            <a:off x="6227064" y="1691640"/>
            <a:ext cx="2743200" cy="2377440"/>
          </a:xfrm>
          <a:prstGeom prst="roundRect">
            <a:avLst>
              <a:gd name="adj" fmla="val 6923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9944" y="1874520"/>
            <a:ext cx="365760" cy="365760"/>
          </a:xfrm>
          <a:prstGeom prst="ellipse">
            <a:avLst/>
          </a:prstGeom>
          <a:solidFill>
            <a:srgbClr val="A55EEA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9944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🚫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67144" y="18562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规则不闭环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9944" y="2377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现状：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扫码即扣分,无校验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9944" y="30632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未中奖也被扣,体验差,申诉成本高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44000" y="1746504"/>
            <a:ext cx="2743200" cy="2377440"/>
          </a:xfrm>
          <a:prstGeom prst="roundRect">
            <a:avLst>
              <a:gd name="adj" fmla="val 6923"/>
            </a:avLst>
          </a:prstGeom>
          <a:solidFill>
            <a:srgbClr val="4FACFE"/>
          </a:solidFill>
          <a:ln/>
        </p:spPr>
      </p:sp>
      <p:sp>
        <p:nvSpPr>
          <p:cNvPr id="29" name="Shape 27"/>
          <p:cNvSpPr/>
          <p:nvPr/>
        </p:nvSpPr>
        <p:spPr>
          <a:xfrm>
            <a:off x="9089136" y="1691640"/>
            <a:ext cx="2743200" cy="2377440"/>
          </a:xfrm>
          <a:prstGeom prst="roundRect">
            <a:avLst>
              <a:gd name="adj" fmla="val 6923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72016" y="1874520"/>
            <a:ext cx="365760" cy="365760"/>
          </a:xfrm>
          <a:prstGeom prst="ellipse">
            <a:avLst/>
          </a:prstGeom>
          <a:solidFill>
            <a:srgbClr val="4FACFE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72016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📉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29216" y="18562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数据沉淀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272016" y="2377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现状：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仅记录数值,无维度归属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272016" y="30632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无法回答"哪个价值观最薄弱",缺乏量化抓手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7784" y="4352544"/>
            <a:ext cx="11201400" cy="914400"/>
          </a:xfrm>
          <a:prstGeom prst="roundRect">
            <a:avLst>
              <a:gd name="adj" fmla="val 18000"/>
            </a:avLst>
          </a:prstGeom>
          <a:solidFill>
            <a:srgbClr val="FFD93D"/>
          </a:solidFill>
          <a:ln/>
        </p:spPr>
      </p:sp>
      <p:sp>
        <p:nvSpPr>
          <p:cNvPr id="36" name="Shape 34"/>
          <p:cNvSpPr/>
          <p:nvPr/>
        </p:nvSpPr>
        <p:spPr>
          <a:xfrm>
            <a:off x="502920" y="4297680"/>
            <a:ext cx="11201400" cy="914400"/>
          </a:xfrm>
          <a:prstGeom prst="roundRect">
            <a:avLst>
              <a:gd name="adj" fmla="val 18000"/>
            </a:avLst>
          </a:prstGeom>
          <a:solidFill>
            <a:srgbClr val="FFF5E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3816" y="4562856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1A1A1A"/>
          </a:solidFill>
          <a:ln/>
        </p:spPr>
      </p:sp>
      <p:sp>
        <p:nvSpPr>
          <p:cNvPr id="38" name="Shape 36"/>
          <p:cNvSpPr/>
          <p:nvPr/>
        </p:nvSpPr>
        <p:spPr>
          <a:xfrm>
            <a:off x="777240" y="452628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F4757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45262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CORE QUESTION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29184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如何让企业文化从口号变成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highlight>
                  <a:srgbClr val="FF7EB3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可观测、可调节、可优化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的运营指标？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02920" y="5440680"/>
            <a:ext cx="11201400" cy="640080"/>
          </a:xfrm>
          <a:prstGeom prst="roundRect">
            <a:avLst>
              <a:gd name="adj" fmla="val 11429"/>
            </a:avLst>
          </a:prstGeom>
          <a:solidFill>
            <a:srgbClr val="FFFEF8"/>
          </a:solidFill>
          <a:ln w="25400">
            <a:solidFill>
              <a:srgbClr val="1A1A1A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777240" y="5440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本质命题：</a:t>
            </a:r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文化积分系统不仅要解决工具问题,更要回答"如何让文化运营具备指标体系"这一战略问题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4FACF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CHAPTER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D9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项目定位 · 三大设计原则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项目定位 · 三大设计原则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57784" y="1426464"/>
            <a:ext cx="11201400" cy="137160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371600"/>
            <a:ext cx="112014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PROJECT VISION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钉钉里的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FF7EB3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企业文化 AI 运营官</a:t>
            </a:r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× </a:t>
            </a:r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highlight>
                  <a:srgbClr val="FFD93D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开放生态平台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57784" y="3026664"/>
            <a:ext cx="3657600" cy="3474720"/>
          </a:xfrm>
          <a:prstGeom prst="roundRect">
            <a:avLst>
              <a:gd name="adj" fmla="val 4737"/>
            </a:avLst>
          </a:prstGeom>
          <a:solidFill>
            <a:srgbClr val="1A1A1A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2971800"/>
            <a:ext cx="3657600" cy="3474720"/>
          </a:xfrm>
          <a:prstGeom prst="roundRect">
            <a:avLst>
              <a:gd name="adj" fmla="val 4737"/>
            </a:avLst>
          </a:prstGeom>
          <a:solidFill>
            <a:srgbClr val="FFF5E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1089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9F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31520" y="44805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价值观驱动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" y="49377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每个积分、徽章、活动都绑定明确的价值观维度,使文化运营具备可量化的指标体系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5669280"/>
            <a:ext cx="3200400" cy="640080"/>
          </a:xfrm>
          <a:prstGeom prst="roundRect">
            <a:avLst>
              <a:gd name="adj" fmla="val 8571"/>
            </a:avLst>
          </a:prstGeom>
          <a:solidFill>
            <a:srgbClr val="FFFFFF">
              <a:alpha val="70000"/>
            </a:srgbClr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6692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关键产出：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价值观分维度榜单、雷达图、均衡度评分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34256" y="3026664"/>
            <a:ext cx="3657600" cy="3474720"/>
          </a:xfrm>
          <a:prstGeom prst="roundRect">
            <a:avLst>
              <a:gd name="adj" fmla="val 4737"/>
            </a:avLst>
          </a:prstGeom>
          <a:solidFill>
            <a:srgbClr val="1A1A1A"/>
          </a:solidFill>
          <a:ln/>
        </p:spPr>
      </p:sp>
      <p:sp>
        <p:nvSpPr>
          <p:cNvPr id="19" name="Shape 17"/>
          <p:cNvSpPr/>
          <p:nvPr/>
        </p:nvSpPr>
        <p:spPr>
          <a:xfrm>
            <a:off x="4279392" y="2971800"/>
            <a:ext cx="3657600" cy="3474720"/>
          </a:xfrm>
          <a:prstGeom prst="roundRect">
            <a:avLst>
              <a:gd name="adj" fmla="val 4737"/>
            </a:avLst>
          </a:prstGeom>
          <a:solidFill>
            <a:srgbClr val="E8F4FF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07992" y="31089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FAC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4507992" y="3886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507992" y="44805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智能化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07992" y="49377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HR 通过自然语言即可完成活动策划、内容生产、数据归因、决策建议全流程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07992" y="5669280"/>
            <a:ext cx="3200400" cy="640080"/>
          </a:xfrm>
          <a:prstGeom prst="roundRect">
            <a:avLst>
              <a:gd name="adj" fmla="val 8571"/>
            </a:avLst>
          </a:prstGeom>
          <a:solidFill>
            <a:srgbClr val="FFFFFF">
              <a:alpha val="70000"/>
            </a:srgbClr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9432" y="56692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AC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关键产出：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HR-Agent / 数据洞察 / 平衡引擎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10728" y="3026664"/>
            <a:ext cx="3657600" cy="3474720"/>
          </a:xfrm>
          <a:prstGeom prst="roundRect">
            <a:avLst>
              <a:gd name="adj" fmla="val 4737"/>
            </a:avLst>
          </a:prstGeom>
          <a:solidFill>
            <a:srgbClr val="1A1A1A"/>
          </a:solidFill>
          <a:ln/>
        </p:spPr>
      </p:sp>
      <p:sp>
        <p:nvSpPr>
          <p:cNvPr id="27" name="Shape 25"/>
          <p:cNvSpPr/>
          <p:nvPr/>
        </p:nvSpPr>
        <p:spPr>
          <a:xfrm>
            <a:off x="8055864" y="2971800"/>
            <a:ext cx="3657600" cy="3474720"/>
          </a:xfrm>
          <a:prstGeom prst="roundRect">
            <a:avLst>
              <a:gd name="adj" fmla="val 4737"/>
            </a:avLst>
          </a:prstGeom>
          <a:solidFill>
            <a:srgbClr val="FFE8F0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84464" y="31089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7E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8284464" y="3886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🔌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8284464" y="44805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开放生态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284464" y="49377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通过 MCP 协议将系统能力开放给任意 AI 客户端,企业自有 AI 工具可直接接入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284464" y="5669280"/>
            <a:ext cx="3200400" cy="640080"/>
          </a:xfrm>
          <a:prstGeom prst="roundRect">
            <a:avLst>
              <a:gd name="adj" fmla="val 8571"/>
            </a:avLst>
          </a:prstGeom>
          <a:solidFill>
            <a:srgbClr val="FFFFFF">
              <a:alpha val="70000"/>
            </a:srgbClr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75904" y="56692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E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关键产出：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REST OpenAPI + MCP Server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478024" cy="292608"/>
          </a:xfrm>
          <a:prstGeom prst="roundRect">
            <a:avLst>
              <a:gd name="adj" fmla="val 50000"/>
            </a:avLst>
          </a:prstGeom>
          <a:solidFill>
            <a:srgbClr val="38B6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2478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CHAPTER 03 · 核心设计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D9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价值观映射模型 · 系统的灵魂骨架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价值观映射模型 · 系统的灵魂骨架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不是"加分扣分"工具,而是把价值观转化为可量化指标的运营操作系统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7784" y="1746504"/>
            <a:ext cx="5029200" cy="4572000"/>
          </a:xfrm>
          <a:prstGeom prst="roundRect">
            <a:avLst>
              <a:gd name="adj" fmla="val 3600"/>
            </a:avLst>
          </a:prstGeom>
          <a:solidFill>
            <a:srgbClr val="38B6A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691640"/>
            <a:ext cx="5029200" cy="4572000"/>
          </a:xfrm>
          <a:prstGeom prst="roundRect">
            <a:avLst>
              <a:gd name="adj" fmla="val 3600"/>
            </a:avLst>
          </a:prstGeom>
          <a:solidFill>
            <a:srgbClr val="F2FFFB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874520"/>
            <a:ext cx="384048" cy="384048"/>
          </a:xfrm>
          <a:prstGeom prst="ellipse">
            <a:avLst/>
          </a:prstGeom>
          <a:solidFill>
            <a:srgbClr val="38B6A8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874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设计思路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24231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文化积分的本质,是把公司核心价值观转化为
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highlight>
                  <a:srgbClr val="4FACFE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可量化 · 可激励 · 可观测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的运营指标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3429000"/>
            <a:ext cx="45262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520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✨ 三个保证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87552" y="3959352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6" name="Shape 14"/>
          <p:cNvSpPr/>
          <p:nvPr/>
        </p:nvSpPr>
        <p:spPr>
          <a:xfrm>
            <a:off x="960120" y="3931920"/>
            <a:ext cx="329184" cy="329184"/>
          </a:xfrm>
          <a:prstGeom prst="ellipse">
            <a:avLst/>
          </a:prstGeom>
          <a:solidFill>
            <a:srgbClr val="FF9F43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9319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931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每一份积分都有维度归属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87552" y="4645152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120" y="4617720"/>
            <a:ext cx="329184" cy="329184"/>
          </a:xfrm>
          <a:prstGeom prst="ellipse">
            <a:avLst/>
          </a:prstGeom>
          <a:solidFill>
            <a:srgbClr val="4FACFE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617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4617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每一个徽章都代表一个价值观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87552" y="5330952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" y="5303520"/>
            <a:ext cx="329184" cy="329184"/>
          </a:xfrm>
          <a:prstGeom prst="ellipse">
            <a:avLst/>
          </a:prstGeom>
          <a:solidFill>
            <a:srgbClr val="FF7EB3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303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17320" y="5303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每一次活动都指向明确维度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15584" y="1746504"/>
            <a:ext cx="5989320" cy="2011680"/>
          </a:xfrm>
          <a:prstGeom prst="roundRect">
            <a:avLst>
              <a:gd name="adj" fmla="val 8182"/>
            </a:avLst>
          </a:prstGeom>
          <a:solidFill>
            <a:srgbClr val="FFD93D"/>
          </a:solidFill>
          <a:ln/>
        </p:spPr>
      </p:sp>
      <p:sp>
        <p:nvSpPr>
          <p:cNvPr id="28" name="Shape 26"/>
          <p:cNvSpPr/>
          <p:nvPr/>
        </p:nvSpPr>
        <p:spPr>
          <a:xfrm>
            <a:off x="5760720" y="1691640"/>
            <a:ext cx="5989320" cy="2011680"/>
          </a:xfrm>
          <a:prstGeom prst="roundRect">
            <a:avLst>
              <a:gd name="adj" fmla="val 8182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1828800"/>
            <a:ext cx="347472" cy="347472"/>
          </a:xfrm>
          <a:prstGeom prst="ellipse">
            <a:avLst/>
          </a:prstGeom>
          <a:solidFill>
            <a:srgbClr val="FFD93D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1828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🔄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5508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价值观运营闭环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934456" y="2414016"/>
            <a:ext cx="987552" cy="1143000"/>
          </a:xfrm>
          <a:prstGeom prst="roundRect">
            <a:avLst>
              <a:gd name="adj" fmla="val 9259"/>
            </a:avLst>
          </a:prstGeom>
          <a:solidFill>
            <a:srgbClr val="1A1A1A"/>
          </a:solidFill>
          <a:ln/>
        </p:spPr>
      </p:sp>
      <p:sp>
        <p:nvSpPr>
          <p:cNvPr id="33" name="Shape 31"/>
          <p:cNvSpPr/>
          <p:nvPr/>
        </p:nvSpPr>
        <p:spPr>
          <a:xfrm>
            <a:off x="5897880" y="2377440"/>
            <a:ext cx="987552" cy="1143000"/>
          </a:xfrm>
          <a:prstGeom prst="roundRect">
            <a:avLst>
              <a:gd name="adj" fmla="val 9259"/>
            </a:avLst>
          </a:prstGeom>
          <a:solidFill>
            <a:srgbClr val="FFF5E8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2468880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897880" y="301752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维度定义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67144" y="2651760"/>
            <a:ext cx="164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040880" y="2414016"/>
            <a:ext cx="987552" cy="1143000"/>
          </a:xfrm>
          <a:prstGeom prst="roundRect">
            <a:avLst>
              <a:gd name="adj" fmla="val 9259"/>
            </a:avLst>
          </a:prstGeom>
          <a:solidFill>
            <a:srgbClr val="1A1A1A"/>
          </a:solidFill>
          <a:ln/>
        </p:spPr>
      </p:sp>
      <p:sp>
        <p:nvSpPr>
          <p:cNvPr id="38" name="Shape 36"/>
          <p:cNvSpPr/>
          <p:nvPr/>
        </p:nvSpPr>
        <p:spPr>
          <a:xfrm>
            <a:off x="7004304" y="2377440"/>
            <a:ext cx="987552" cy="1143000"/>
          </a:xfrm>
          <a:prstGeom prst="roundRect">
            <a:avLst>
              <a:gd name="adj" fmla="val 9259"/>
            </a:avLst>
          </a:prstGeom>
          <a:solidFill>
            <a:srgbClr val="E8F4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04304" y="2468880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🎁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7004304" y="301752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行为激励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973568" y="2651760"/>
            <a:ext cx="164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147304" y="2414016"/>
            <a:ext cx="987552" cy="1143000"/>
          </a:xfrm>
          <a:prstGeom prst="roundRect">
            <a:avLst>
              <a:gd name="adj" fmla="val 9259"/>
            </a:avLst>
          </a:prstGeom>
          <a:solidFill>
            <a:srgbClr val="1A1A1A"/>
          </a:solidFill>
          <a:ln/>
        </p:spPr>
      </p:sp>
      <p:sp>
        <p:nvSpPr>
          <p:cNvPr id="43" name="Shape 41"/>
          <p:cNvSpPr/>
          <p:nvPr/>
        </p:nvSpPr>
        <p:spPr>
          <a:xfrm>
            <a:off x="8110728" y="2377440"/>
            <a:ext cx="987552" cy="1143000"/>
          </a:xfrm>
          <a:prstGeom prst="roundRect">
            <a:avLst>
              <a:gd name="adj" fmla="val 9259"/>
            </a:avLst>
          </a:prstGeom>
          <a:solidFill>
            <a:srgbClr val="FFE8F0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10728" y="2468880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8110728" y="301752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数据沉淀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079992" y="2651760"/>
            <a:ext cx="164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9253728" y="2414016"/>
            <a:ext cx="987552" cy="1143000"/>
          </a:xfrm>
          <a:prstGeom prst="roundRect">
            <a:avLst>
              <a:gd name="adj" fmla="val 9259"/>
            </a:avLst>
          </a:prstGeom>
          <a:solidFill>
            <a:srgbClr val="1A1A1A"/>
          </a:solidFill>
          <a:ln/>
        </p:spPr>
      </p:sp>
      <p:sp>
        <p:nvSpPr>
          <p:cNvPr id="48" name="Shape 46"/>
          <p:cNvSpPr/>
          <p:nvPr/>
        </p:nvSpPr>
        <p:spPr>
          <a:xfrm>
            <a:off x="9217152" y="2377440"/>
            <a:ext cx="987552" cy="1143000"/>
          </a:xfrm>
          <a:prstGeom prst="roundRect">
            <a:avLst>
              <a:gd name="adj" fmla="val 9259"/>
            </a:avLst>
          </a:prstGeom>
          <a:solidFill>
            <a:srgbClr val="E8FFF0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217152" y="2468880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9217152" y="301752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智能洞察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186416" y="2651760"/>
            <a:ext cx="164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0360152" y="2414016"/>
            <a:ext cx="987552" cy="1143000"/>
          </a:xfrm>
          <a:prstGeom prst="roundRect">
            <a:avLst>
              <a:gd name="adj" fmla="val 9259"/>
            </a:avLst>
          </a:prstGeom>
          <a:solidFill>
            <a:srgbClr val="1A1A1A"/>
          </a:solidFill>
          <a:ln/>
        </p:spPr>
      </p:sp>
      <p:sp>
        <p:nvSpPr>
          <p:cNvPr id="53" name="Shape 51"/>
          <p:cNvSpPr/>
          <p:nvPr/>
        </p:nvSpPr>
        <p:spPr>
          <a:xfrm>
            <a:off x="10323576" y="2377440"/>
            <a:ext cx="987552" cy="1143000"/>
          </a:xfrm>
          <a:prstGeom prst="roundRect">
            <a:avLst>
              <a:gd name="adj" fmla="val 9259"/>
            </a:avLst>
          </a:prstGeom>
          <a:solidFill>
            <a:srgbClr val="F5E8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323576" y="2468880"/>
            <a:ext cx="987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10323576" y="3017520"/>
            <a:ext cx="987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持续优化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815584" y="3895344"/>
            <a:ext cx="5989320" cy="2423160"/>
          </a:xfrm>
          <a:prstGeom prst="roundRect">
            <a:avLst>
              <a:gd name="adj" fmla="val 6792"/>
            </a:avLst>
          </a:prstGeom>
          <a:solidFill>
            <a:srgbClr val="4FACFE"/>
          </a:solidFill>
          <a:ln/>
        </p:spPr>
      </p:sp>
      <p:sp>
        <p:nvSpPr>
          <p:cNvPr id="57" name="Shape 55"/>
          <p:cNvSpPr/>
          <p:nvPr/>
        </p:nvSpPr>
        <p:spPr>
          <a:xfrm>
            <a:off x="5760720" y="3840480"/>
            <a:ext cx="5989320" cy="2423160"/>
          </a:xfrm>
          <a:prstGeom prst="roundRect">
            <a:avLst>
              <a:gd name="adj" fmla="val 6792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943600" y="3977640"/>
            <a:ext cx="347472" cy="347472"/>
          </a:xfrm>
          <a:prstGeom prst="ellipse">
            <a:avLst/>
          </a:prstGeom>
          <a:solidFill>
            <a:srgbClr val="4FACFE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43600" y="3977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🎯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355080" y="3977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对比传统积分系统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5943600" y="4480560"/>
            <a:ext cx="5623560" cy="29260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62" name="Text 60"/>
          <p:cNvSpPr/>
          <p:nvPr/>
        </p:nvSpPr>
        <p:spPr>
          <a:xfrm>
            <a:off x="5989320" y="44805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维度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360920" y="44805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传统积分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9601200" y="44805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价值观驱动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989320" y="4800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数据结构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7360920" y="4800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单一数值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9601200" y="4800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多维分值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5943600" y="5120640"/>
            <a:ext cx="5623560" cy="320040"/>
          </a:xfrm>
          <a:prstGeom prst="rect">
            <a:avLst/>
          </a:prstGeom>
          <a:solidFill>
            <a:srgbClr val="FAFAF3"/>
          </a:solidFill>
          <a:ln/>
        </p:spPr>
      </p:sp>
      <p:sp>
        <p:nvSpPr>
          <p:cNvPr id="69" name="Text 67"/>
          <p:cNvSpPr/>
          <p:nvPr/>
        </p:nvSpPr>
        <p:spPr>
          <a:xfrm>
            <a:off x="5989320" y="5120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业务问题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7360920" y="5120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"X 有多少分"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9601200" y="5120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"哪个维度薄弱"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89320" y="5440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运营动作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7360920" y="5440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凭经验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9601200" y="5440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数据驱动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5943600" y="5760720"/>
            <a:ext cx="5623560" cy="320040"/>
          </a:xfrm>
          <a:prstGeom prst="rect">
            <a:avLst/>
          </a:prstGeom>
          <a:solidFill>
            <a:srgbClr val="FAFAF3"/>
          </a:solidFill>
          <a:ln/>
        </p:spPr>
      </p:sp>
      <p:sp>
        <p:nvSpPr>
          <p:cNvPr id="76" name="Text 74"/>
          <p:cNvSpPr/>
          <p:nvPr/>
        </p:nvSpPr>
        <p:spPr>
          <a:xfrm>
            <a:off x="5989320" y="5760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战略价值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7360920" y="5760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9601200" y="5760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文化指标体系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596896" cy="292608"/>
          </a:xfrm>
          <a:prstGeom prst="roundRect">
            <a:avLst>
              <a:gd name="adj" fmla="val 50000"/>
            </a:avLst>
          </a:prstGeom>
          <a:solidFill>
            <a:srgbClr val="38B6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CHAPTER 03 · 价值观维度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D9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系统默认 6 大企业文化维度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系统默认 6 大企业文化维度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企业可基于自身价值观体系灵活增删、重命名、调整权重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7784" y="1746504"/>
            <a:ext cx="3657600" cy="1920240"/>
          </a:xfrm>
          <a:prstGeom prst="roundRect">
            <a:avLst>
              <a:gd name="adj" fmla="val 8571"/>
            </a:avLst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691640"/>
            <a:ext cx="3657600" cy="1920240"/>
          </a:xfrm>
          <a:prstGeom prst="roundRect">
            <a:avLst>
              <a:gd name="adj" fmla="val 8571"/>
            </a:avLst>
          </a:prstGeom>
          <a:solidFill>
            <a:srgbClr val="FFF0E0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830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280160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客户至上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用户思维 · 服务意识 · 价值创造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3291840" cy="0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85800" y="2834640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9F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典型激励场景：
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客户走访 · 用户调研 · 满意度专项 · 客户故事征集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34256" y="1746504"/>
            <a:ext cx="3657600" cy="1920240"/>
          </a:xfrm>
          <a:prstGeom prst="roundRect">
            <a:avLst>
              <a:gd name="adj" fmla="val 8571"/>
            </a:avLst>
          </a:prstGeom>
          <a:solidFill>
            <a:srgbClr val="1A1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4279392" y="1691640"/>
            <a:ext cx="3657600" cy="1920240"/>
          </a:xfrm>
          <a:prstGeom prst="roundRect">
            <a:avLst>
              <a:gd name="adj" fmla="val 8571"/>
            </a:avLst>
          </a:prstGeom>
          <a:solidFill>
            <a:srgbClr val="E0F0FF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62272" y="17830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056632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团队协作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62272" y="2377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跨部门合作 · 互助互信 · 共同成长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62272" y="2770632"/>
            <a:ext cx="3291840" cy="0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462272" y="2834640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FAC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典型激励场景：
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跨部门项目 · 知识共享 · 互助任务 · 团建活动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10728" y="1746504"/>
            <a:ext cx="3657600" cy="1920240"/>
          </a:xfrm>
          <a:prstGeom prst="roundRect">
            <a:avLst>
              <a:gd name="adj" fmla="val 8571"/>
            </a:avLst>
          </a:prstGeom>
          <a:solidFill>
            <a:srgbClr val="1A1A1A"/>
          </a:solidFill>
          <a:ln/>
        </p:spPr>
      </p:sp>
      <p:sp>
        <p:nvSpPr>
          <p:cNvPr id="22" name="Shape 20"/>
          <p:cNvSpPr/>
          <p:nvPr/>
        </p:nvSpPr>
        <p:spPr>
          <a:xfrm>
            <a:off x="8055864" y="1691640"/>
            <a:ext cx="3657600" cy="1920240"/>
          </a:xfrm>
          <a:prstGeom prst="roundRect">
            <a:avLst>
              <a:gd name="adj" fmla="val 8571"/>
            </a:avLst>
          </a:prstGeom>
          <a:solidFill>
            <a:srgbClr val="FFE0EE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38744" y="17830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833104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创新求变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38744" y="2377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突破常规 · 勇于尝试 · 变革驱动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38744" y="2770632"/>
            <a:ext cx="3291840" cy="0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8238744" y="2834640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7E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典型激励场景：
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创意提案 · 技术预研 · 流程优化 · 内部 Hackathon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57784" y="3785616"/>
            <a:ext cx="3657600" cy="1920240"/>
          </a:xfrm>
          <a:prstGeom prst="roundRect">
            <a:avLst>
              <a:gd name="adj" fmla="val 8571"/>
            </a:avLst>
          </a:prstGeom>
          <a:solidFill>
            <a:srgbClr val="1A1A1A"/>
          </a:solidFill>
          <a:ln/>
        </p:spPr>
      </p:sp>
      <p:sp>
        <p:nvSpPr>
          <p:cNvPr id="29" name="Shape 27"/>
          <p:cNvSpPr/>
          <p:nvPr/>
        </p:nvSpPr>
        <p:spPr>
          <a:xfrm>
            <a:off x="502920" y="3730752"/>
            <a:ext cx="3657600" cy="1920240"/>
          </a:xfrm>
          <a:prstGeom prst="roundRect">
            <a:avLst>
              <a:gd name="adj" fmla="val 8571"/>
            </a:avLst>
          </a:prstGeom>
          <a:solidFill>
            <a:srgbClr val="E0FFE5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82219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1280160" y="382219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诚信务实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5800" y="44165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担当负责 · 说到做到 · 落地为王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85800" y="4809744"/>
            <a:ext cx="3291840" cy="0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685800" y="4873752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8B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典型激励场景：
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项目复盘 · 责任领取 · 关键交付 · 合规建设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334256" y="3785616"/>
            <a:ext cx="3657600" cy="1920240"/>
          </a:xfrm>
          <a:prstGeom prst="roundRect">
            <a:avLst>
              <a:gd name="adj" fmla="val 8571"/>
            </a:avLst>
          </a:prstGeom>
          <a:solidFill>
            <a:srgbClr val="1A1A1A"/>
          </a:solidFill>
          <a:ln/>
        </p:spPr>
      </p:sp>
      <p:sp>
        <p:nvSpPr>
          <p:cNvPr id="36" name="Shape 34"/>
          <p:cNvSpPr/>
          <p:nvPr/>
        </p:nvSpPr>
        <p:spPr>
          <a:xfrm>
            <a:off x="4279392" y="3730752"/>
            <a:ext cx="3657600" cy="1920240"/>
          </a:xfrm>
          <a:prstGeom prst="roundRect">
            <a:avLst>
              <a:gd name="adj" fmla="val 8571"/>
            </a:avLst>
          </a:prstGeom>
          <a:solidFill>
            <a:srgbClr val="F0E0FF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62272" y="382219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5056632" y="382219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极致专注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462272" y="44165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工匠精神 · 追求卓越 · 品质至上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462272" y="4809744"/>
            <a:ext cx="3291840" cy="0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462272" y="4873752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55EE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典型激励场景：
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技能竞赛 · 质量改进 · 深度专研 · 最佳实践沉淀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110728" y="3785616"/>
            <a:ext cx="3657600" cy="1920240"/>
          </a:xfrm>
          <a:prstGeom prst="roundRect">
            <a:avLst>
              <a:gd name="adj" fmla="val 8571"/>
            </a:avLst>
          </a:prstGeom>
          <a:solidFill>
            <a:srgbClr val="1A1A1A"/>
          </a:solidFill>
          <a:ln/>
        </p:spPr>
      </p:sp>
      <p:sp>
        <p:nvSpPr>
          <p:cNvPr id="43" name="Shape 41"/>
          <p:cNvSpPr/>
          <p:nvPr/>
        </p:nvSpPr>
        <p:spPr>
          <a:xfrm>
            <a:off x="8055864" y="3730752"/>
            <a:ext cx="3657600" cy="1920240"/>
          </a:xfrm>
          <a:prstGeom prst="roundRect">
            <a:avLst>
              <a:gd name="adj" fmla="val 8571"/>
            </a:avLst>
          </a:prstGeom>
          <a:solidFill>
            <a:srgbClr val="FFFAD0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38744" y="382219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8833104" y="382219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学习成长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8238744" y="44165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持续学习 · 知识分享 · 自我突破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238744" y="4809744"/>
            <a:ext cx="3291840" cy="0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8238744" y="4873752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93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典型激励场景：
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培训 · 读书会 · 技术分享 · 技能认证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02920" y="5943600"/>
            <a:ext cx="11201400" cy="548640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/>
        </p:spPr>
      </p:sp>
      <p:sp>
        <p:nvSpPr>
          <p:cNvPr id="50" name="Shape 48"/>
          <p:cNvSpPr/>
          <p:nvPr/>
        </p:nvSpPr>
        <p:spPr>
          <a:xfrm>
            <a:off x="722376" y="6071616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1A1A1A"/>
          </a:solidFill>
          <a:ln/>
        </p:spPr>
      </p:sp>
      <p:sp>
        <p:nvSpPr>
          <p:cNvPr id="51" name="Shape 49"/>
          <p:cNvSpPr/>
          <p:nvPr/>
        </p:nvSpPr>
        <p:spPr>
          <a:xfrm>
            <a:off x="685800" y="603504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FFD93D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" y="60350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CONFIGURABLE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2743200" y="594360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维度配置 = 租户级 · 可自定义编码 / 显示名 / 关键词 / 权重 / 排序 · 行业模板可一键导入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478024" cy="292608"/>
          </a:xfrm>
          <a:prstGeom prst="roundRect">
            <a:avLst>
              <a:gd name="adj" fmla="val 50000"/>
            </a:avLst>
          </a:prstGeom>
          <a:solidFill>
            <a:srgbClr val="38B6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2478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CHAPTER 03 · 模块映射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D9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价值观如何贯穿系统全模块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价值观如何贯穿系统全模块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从积分体系到 HR-Agent · 维度标签贯穿全链路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7784" y="1746504"/>
            <a:ext cx="6675120" cy="4663440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691640"/>
            <a:ext cx="6675120" cy="4663440"/>
          </a:xfrm>
          <a:prstGeom prst="roundRect">
            <a:avLst>
              <a:gd name="adj" fmla="val 3529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91640"/>
            <a:ext cx="667512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91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系统模块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3172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价值观融入方式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F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积分体系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331720" y="2194560"/>
            <a:ext cx="4754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每次加分绑定一个维度,员工拥有 总积分 + 多维分值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706624"/>
            <a:ext cx="6675120" cy="512064"/>
          </a:xfrm>
          <a:prstGeom prst="rect">
            <a:avLst/>
          </a:prstGeom>
          <a:solidFill>
            <a:srgbClr val="FAFAF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06624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AC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排行榜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331720" y="2706624"/>
            <a:ext cx="4754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总榜 + 维度分榜,支持员工 / 部门双视角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218688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E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活动中心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31720" y="3218688"/>
            <a:ext cx="4754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活动发布时选择主推维度,作为积分归属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730752"/>
            <a:ext cx="6675120" cy="512064"/>
          </a:xfrm>
          <a:prstGeom prst="rect">
            <a:avLst/>
          </a:prstGeom>
          <a:solidFill>
            <a:srgbClr val="FAFAF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30752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徽章成就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331720" y="3730752"/>
            <a:ext cx="4754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每个徽章绑定一个维度,按稀有度分阶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242816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55EE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数据洞察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331720" y="4242816"/>
            <a:ext cx="4754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维度参与度对比、薄弱维度归因、均衡度评估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754880"/>
            <a:ext cx="6675120" cy="512064"/>
          </a:xfrm>
          <a:prstGeom prst="rect">
            <a:avLst/>
          </a:prstGeom>
          <a:solidFill>
            <a:srgbClr val="FAFAF3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754880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93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跨企业指数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331720" y="4754880"/>
            <a:ext cx="4754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按维度跨企业对标,形成行业价值观图谱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5266944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4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内容生成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331720" y="5266944"/>
            <a:ext cx="4754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 注入公司价值观语境,文案贴合企业文化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5779008"/>
            <a:ext cx="6675120" cy="512064"/>
          </a:xfrm>
          <a:prstGeom prst="rect">
            <a:avLst/>
          </a:prstGeom>
          <a:solidFill>
            <a:srgbClr val="FAFAF3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779008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HR-Agent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331720" y="5779008"/>
            <a:ext cx="4754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发布活动时自动推荐维度归属,预警维度失衡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15784" y="1746504"/>
            <a:ext cx="4389120" cy="3200400"/>
          </a:xfrm>
          <a:prstGeom prst="roundRect">
            <a:avLst>
              <a:gd name="adj" fmla="val 5143"/>
            </a:avLst>
          </a:prstGeom>
          <a:solidFill>
            <a:srgbClr val="FF7EB3"/>
          </a:solidFill>
          <a:ln/>
        </p:spPr>
      </p:sp>
      <p:sp>
        <p:nvSpPr>
          <p:cNvPr id="33" name="Shape 31"/>
          <p:cNvSpPr/>
          <p:nvPr/>
        </p:nvSpPr>
        <p:spPr>
          <a:xfrm>
            <a:off x="7360920" y="1691640"/>
            <a:ext cx="4389120" cy="3200400"/>
          </a:xfrm>
          <a:prstGeom prst="roundRect">
            <a:avLst>
              <a:gd name="adj" fmla="val 5143"/>
            </a:avLst>
          </a:prstGeom>
          <a:solidFill>
            <a:srgbClr val="FFF5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43800" y="1828800"/>
            <a:ext cx="347472" cy="347472"/>
          </a:xfrm>
          <a:prstGeom prst="ellipse">
            <a:avLst/>
          </a:prstGeom>
          <a:solidFill>
            <a:srgbClr val="FF7EB3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43800" y="1828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📔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95528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员工文化护照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555480" y="2468880"/>
            <a:ext cx="673110" cy="388620"/>
          </a:xfrm>
          <a:prstGeom prst="line">
            <a:avLst/>
          </a:prstGeom>
          <a:noFill/>
          <a:ln w="15240">
            <a:solidFill>
              <a:srgbClr val="CCCC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28590" y="2857500"/>
            <a:ext cx="0" cy="777240"/>
          </a:xfrm>
          <a:prstGeom prst="line">
            <a:avLst/>
          </a:prstGeom>
          <a:noFill/>
          <a:ln w="1524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>
            <a:off x="9555480" y="3634740"/>
            <a:ext cx="673110" cy="388620"/>
          </a:xfrm>
          <a:prstGeom prst="line">
            <a:avLst/>
          </a:prstGeom>
          <a:noFill/>
          <a:ln w="15240">
            <a:solidFill>
              <a:srgbClr val="CCCC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 flipV="1">
            <a:off x="8882370" y="3634740"/>
            <a:ext cx="673110" cy="388620"/>
          </a:xfrm>
          <a:prstGeom prst="line">
            <a:avLst/>
          </a:prstGeom>
          <a:noFill/>
          <a:ln w="1524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8882370" y="2857500"/>
            <a:ext cx="0" cy="777240"/>
          </a:xfrm>
          <a:prstGeom prst="line">
            <a:avLst/>
          </a:prstGeom>
          <a:noFill/>
          <a:ln w="1524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8882370" y="2468880"/>
            <a:ext cx="673110" cy="388620"/>
          </a:xfrm>
          <a:prstGeom prst="line">
            <a:avLst/>
          </a:prstGeom>
          <a:noFill/>
          <a:ln w="15240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555480" y="2733142"/>
            <a:ext cx="444252" cy="256489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999732" y="2989631"/>
            <a:ext cx="0" cy="512978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H="1">
            <a:off x="9555480" y="3502609"/>
            <a:ext cx="444252" cy="256489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H="1" flipV="1">
            <a:off x="9111228" y="3502609"/>
            <a:ext cx="444252" cy="256489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9111228" y="2989631"/>
            <a:ext cx="0" cy="512978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9111228" y="2733142"/>
            <a:ext cx="444252" cy="256489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555480" y="2989631"/>
            <a:ext cx="222126" cy="128245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777606" y="3117875"/>
            <a:ext cx="0" cy="256489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H="1">
            <a:off x="9555480" y="3374365"/>
            <a:ext cx="222126" cy="128245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H="1" flipV="1">
            <a:off x="9333354" y="3374365"/>
            <a:ext cx="222126" cy="128245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9333354" y="3117875"/>
            <a:ext cx="0" cy="256489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9333354" y="2989631"/>
            <a:ext cx="222126" cy="128245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555480" y="2624328"/>
            <a:ext cx="450983" cy="361417"/>
          </a:xfrm>
          <a:prstGeom prst="line">
            <a:avLst/>
          </a:prstGeom>
          <a:noFill/>
          <a:ln w="25400">
            <a:solidFill>
              <a:srgbClr val="FF7EB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006463" y="2985745"/>
            <a:ext cx="33655" cy="540182"/>
          </a:xfrm>
          <a:prstGeom prst="line">
            <a:avLst/>
          </a:prstGeom>
          <a:noFill/>
          <a:ln w="25400">
            <a:solidFill>
              <a:srgbClr val="FF7EB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H="1">
            <a:off x="9555480" y="3525926"/>
            <a:ext cx="484639" cy="365303"/>
          </a:xfrm>
          <a:prstGeom prst="line">
            <a:avLst/>
          </a:prstGeom>
          <a:noFill/>
          <a:ln w="25400">
            <a:solidFill>
              <a:srgbClr val="FF7EB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H="1" flipV="1">
            <a:off x="9144883" y="3483178"/>
            <a:ext cx="410597" cy="408051"/>
          </a:xfrm>
          <a:prstGeom prst="line">
            <a:avLst/>
          </a:prstGeom>
          <a:noFill/>
          <a:ln w="25400">
            <a:solidFill>
              <a:srgbClr val="FF7EB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 flipV="1">
            <a:off x="9043917" y="2950769"/>
            <a:ext cx="100966" cy="532409"/>
          </a:xfrm>
          <a:prstGeom prst="line">
            <a:avLst/>
          </a:prstGeom>
          <a:noFill/>
          <a:ln w="25400">
            <a:solidFill>
              <a:srgbClr val="FF7EB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9043917" y="2624328"/>
            <a:ext cx="511563" cy="326441"/>
          </a:xfrm>
          <a:prstGeom prst="line">
            <a:avLst/>
          </a:prstGeom>
          <a:noFill/>
          <a:ln w="25400">
            <a:solidFill>
              <a:srgbClr val="FF7EB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509760" y="2578608"/>
            <a:ext cx="91440" cy="91440"/>
          </a:xfrm>
          <a:prstGeom prst="ellipse">
            <a:avLst/>
          </a:prstGeom>
          <a:solidFill>
            <a:srgbClr val="FF7EB3"/>
          </a:solidFill>
          <a:ln/>
        </p:spPr>
      </p:sp>
      <p:sp>
        <p:nvSpPr>
          <p:cNvPr id="62" name="Shape 60"/>
          <p:cNvSpPr/>
          <p:nvPr/>
        </p:nvSpPr>
        <p:spPr>
          <a:xfrm>
            <a:off x="9960743" y="2940025"/>
            <a:ext cx="91440" cy="91440"/>
          </a:xfrm>
          <a:prstGeom prst="ellipse">
            <a:avLst/>
          </a:prstGeom>
          <a:solidFill>
            <a:srgbClr val="FF7EB3"/>
          </a:solidFill>
          <a:ln/>
        </p:spPr>
      </p:sp>
      <p:sp>
        <p:nvSpPr>
          <p:cNvPr id="63" name="Shape 61"/>
          <p:cNvSpPr/>
          <p:nvPr/>
        </p:nvSpPr>
        <p:spPr>
          <a:xfrm>
            <a:off x="9994399" y="3480206"/>
            <a:ext cx="91440" cy="91440"/>
          </a:xfrm>
          <a:prstGeom prst="ellipse">
            <a:avLst/>
          </a:prstGeom>
          <a:solidFill>
            <a:srgbClr val="FF7EB3"/>
          </a:solidFill>
          <a:ln/>
        </p:spPr>
      </p:sp>
      <p:sp>
        <p:nvSpPr>
          <p:cNvPr id="64" name="Shape 62"/>
          <p:cNvSpPr/>
          <p:nvPr/>
        </p:nvSpPr>
        <p:spPr>
          <a:xfrm>
            <a:off x="9509760" y="3845509"/>
            <a:ext cx="91440" cy="91440"/>
          </a:xfrm>
          <a:prstGeom prst="ellipse">
            <a:avLst/>
          </a:prstGeom>
          <a:solidFill>
            <a:srgbClr val="FF7EB3"/>
          </a:solidFill>
          <a:ln/>
        </p:spPr>
      </p:sp>
      <p:sp>
        <p:nvSpPr>
          <p:cNvPr id="65" name="Shape 63"/>
          <p:cNvSpPr/>
          <p:nvPr/>
        </p:nvSpPr>
        <p:spPr>
          <a:xfrm>
            <a:off x="9099163" y="3437458"/>
            <a:ext cx="91440" cy="91440"/>
          </a:xfrm>
          <a:prstGeom prst="ellipse">
            <a:avLst/>
          </a:prstGeom>
          <a:solidFill>
            <a:srgbClr val="FF7EB3"/>
          </a:solidFill>
          <a:ln/>
        </p:spPr>
      </p:sp>
      <p:sp>
        <p:nvSpPr>
          <p:cNvPr id="66" name="Shape 64"/>
          <p:cNvSpPr/>
          <p:nvPr/>
        </p:nvSpPr>
        <p:spPr>
          <a:xfrm>
            <a:off x="8998197" y="2905049"/>
            <a:ext cx="91440" cy="91440"/>
          </a:xfrm>
          <a:prstGeom prst="ellipse">
            <a:avLst/>
          </a:prstGeom>
          <a:solidFill>
            <a:srgbClr val="FF7EB3"/>
          </a:solidFill>
          <a:ln/>
        </p:spPr>
      </p:sp>
      <p:sp>
        <p:nvSpPr>
          <p:cNvPr id="67" name="Text 65"/>
          <p:cNvSpPr/>
          <p:nvPr/>
        </p:nvSpPr>
        <p:spPr>
          <a:xfrm>
            <a:off x="9144000" y="213055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客户至上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0015083" y="263347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团队协作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0015083" y="363931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创新求变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9144000" y="414223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诚信务实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272917" y="363931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极致专注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272917" y="263347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学习成长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543800" y="4526280"/>
            <a:ext cx="406908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635240" y="452628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包含：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雷达图 · 维度成就 · AI 年度报告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415784" y="5084064"/>
            <a:ext cx="4389120" cy="1325880"/>
          </a:xfrm>
          <a:prstGeom prst="roundRect">
            <a:avLst>
              <a:gd name="adj" fmla="val 12414"/>
            </a:avLst>
          </a:prstGeom>
          <a:solidFill>
            <a:srgbClr val="A55EEA"/>
          </a:solidFill>
          <a:ln/>
        </p:spPr>
      </p:sp>
      <p:sp>
        <p:nvSpPr>
          <p:cNvPr id="76" name="Shape 74"/>
          <p:cNvSpPr/>
          <p:nvPr/>
        </p:nvSpPr>
        <p:spPr>
          <a:xfrm>
            <a:off x="7360920" y="5029200"/>
            <a:ext cx="4389120" cy="1325880"/>
          </a:xfrm>
          <a:prstGeom prst="roundRect">
            <a:avLst>
              <a:gd name="adj" fmla="val 12414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543800" y="5120640"/>
            <a:ext cx="347472" cy="347472"/>
          </a:xfrm>
          <a:prstGeom prst="ellipse">
            <a:avLst/>
          </a:prstGeom>
          <a:solidFill>
            <a:srgbClr val="A55EEA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543800" y="5120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🏆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7955280" y="5120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应用场景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7543800" y="5486400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年度评优的客观依据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晋升参考维度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内部转岗匹配 (按维度偏好)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6DD5A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CHAPTER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D9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核心功能模块 · 六大业务板块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核心功能模块 · 六大业务板块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完整业务闭环 · 每个模块均与价值观维度联动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7784" y="1746504"/>
            <a:ext cx="3657600" cy="2331720"/>
          </a:xfrm>
          <a:prstGeom prst="roundRect">
            <a:avLst>
              <a:gd name="adj" fmla="val 7059"/>
            </a:avLst>
          </a:prstGeom>
          <a:solidFill>
            <a:srgbClr val="FF9F43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691640"/>
            <a:ext cx="3657600" cy="2331720"/>
          </a:xfrm>
          <a:prstGeom prst="roundRect">
            <a:avLst>
              <a:gd name="adj" fmla="val 7059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874520"/>
            <a:ext cx="365760" cy="365760"/>
          </a:xfrm>
          <a:prstGeom prst="ellipse">
            <a:avLst/>
          </a:prstGeom>
          <a:solidFill>
            <a:srgbClr val="FF9F43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874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文化分排行榜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37744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总榜 + 多维度分榜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部门 / 个人双视角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季度 / 年度切换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钉钉工作台一屏直达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34256" y="1746504"/>
            <a:ext cx="3657600" cy="2331720"/>
          </a:xfrm>
          <a:prstGeom prst="roundRect">
            <a:avLst>
              <a:gd name="adj" fmla="val 7059"/>
            </a:avLst>
          </a:prstGeom>
          <a:solidFill>
            <a:srgbClr val="4FACFE"/>
          </a:solidFill>
          <a:ln/>
        </p:spPr>
      </p:sp>
      <p:sp>
        <p:nvSpPr>
          <p:cNvPr id="14" name="Shape 12"/>
          <p:cNvSpPr/>
          <p:nvPr/>
        </p:nvSpPr>
        <p:spPr>
          <a:xfrm>
            <a:off x="4279392" y="1691640"/>
            <a:ext cx="3657600" cy="2331720"/>
          </a:xfrm>
          <a:prstGeom prst="roundRect">
            <a:avLst>
              <a:gd name="adj" fmla="val 7059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62272" y="1874520"/>
            <a:ext cx="365760" cy="365760"/>
          </a:xfrm>
          <a:prstGeom prst="ellipse">
            <a:avLst/>
          </a:prstGeom>
          <a:solidFill>
            <a:srgbClr val="4FACFE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62272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65192" y="1874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活动中心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07992" y="237744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HR 发布 → 钉钉日程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接受 = 报名意向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现场签到 → 审核加分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活动必须绑定价值观维度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10728" y="1746504"/>
            <a:ext cx="3657600" cy="2331720"/>
          </a:xfrm>
          <a:prstGeom prst="roundRect">
            <a:avLst>
              <a:gd name="adj" fmla="val 7059"/>
            </a:avLst>
          </a:prstGeom>
          <a:solidFill>
            <a:srgbClr val="FF7EB3"/>
          </a:solidFill>
          <a:ln/>
        </p:spPr>
      </p:sp>
      <p:sp>
        <p:nvSpPr>
          <p:cNvPr id="20" name="Shape 18"/>
          <p:cNvSpPr/>
          <p:nvPr/>
        </p:nvSpPr>
        <p:spPr>
          <a:xfrm>
            <a:off x="8055864" y="1691640"/>
            <a:ext cx="3657600" cy="2331720"/>
          </a:xfrm>
          <a:prstGeom prst="roundRect">
            <a:avLst>
              <a:gd name="adj" fmla="val 7059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38744" y="1874520"/>
            <a:ext cx="365760" cy="365760"/>
          </a:xfrm>
          <a:prstGeom prst="ellipse">
            <a:avLst/>
          </a:prstGeom>
          <a:solidFill>
            <a:srgbClr val="FF7EB3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38744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👤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41664" y="1874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我的(文化护照)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84464" y="237744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个人积分总览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维度雷达图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流水明细 · 徽章墙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年度文化报告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7784" y="4197096"/>
            <a:ext cx="3657600" cy="2331720"/>
          </a:xfrm>
          <a:prstGeom prst="roundRect">
            <a:avLst>
              <a:gd name="adj" fmla="val 7059"/>
            </a:avLst>
          </a:prstGeom>
          <a:solidFill>
            <a:srgbClr val="FF4757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4142232"/>
            <a:ext cx="3657600" cy="2331720"/>
          </a:xfrm>
          <a:prstGeom prst="roundRect">
            <a:avLst>
              <a:gd name="adj" fmla="val 7059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4325112"/>
            <a:ext cx="365760" cy="365760"/>
          </a:xfrm>
          <a:prstGeom prst="ellipse">
            <a:avLst/>
          </a:prstGeom>
          <a:solidFill>
            <a:srgbClr val="FF4757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325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🎁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432511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积分商城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" y="4828032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商品兑换 + 盲盒抽奖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TCC 事务修复"扫码即扣"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未中奖不扣分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主持人互动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334256" y="4197096"/>
            <a:ext cx="3657600" cy="2331720"/>
          </a:xfrm>
          <a:prstGeom prst="roundRect">
            <a:avLst>
              <a:gd name="adj" fmla="val 7059"/>
            </a:avLst>
          </a:prstGeom>
          <a:solidFill>
            <a:srgbClr val="A55EEA"/>
          </a:solidFill>
          <a:ln/>
        </p:spPr>
      </p:sp>
      <p:sp>
        <p:nvSpPr>
          <p:cNvPr id="32" name="Shape 30"/>
          <p:cNvSpPr/>
          <p:nvPr/>
        </p:nvSpPr>
        <p:spPr>
          <a:xfrm>
            <a:off x="4279392" y="4142232"/>
            <a:ext cx="3657600" cy="2331720"/>
          </a:xfrm>
          <a:prstGeom prst="roundRect">
            <a:avLst>
              <a:gd name="adj" fmla="val 7059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62272" y="4325112"/>
            <a:ext cx="365760" cy="365760"/>
          </a:xfrm>
          <a:prstGeom prst="ellipse">
            <a:avLst/>
          </a:prstGeom>
          <a:solidFill>
            <a:srgbClr val="A55EEA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62272" y="4325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⚙️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965192" y="432511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后台管理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07992" y="4828032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价值观维度配置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积分管理 · 签到审核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 / 商品 / 二维码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多租户隔离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110728" y="4197096"/>
            <a:ext cx="3657600" cy="2331720"/>
          </a:xfrm>
          <a:prstGeom prst="roundRect">
            <a:avLst>
              <a:gd name="adj" fmla="val 7059"/>
            </a:avLst>
          </a:prstGeom>
          <a:solidFill>
            <a:srgbClr val="6DD5A3"/>
          </a:solidFill>
          <a:ln/>
        </p:spPr>
      </p:sp>
      <p:sp>
        <p:nvSpPr>
          <p:cNvPr id="38" name="Shape 36"/>
          <p:cNvSpPr/>
          <p:nvPr/>
        </p:nvSpPr>
        <p:spPr>
          <a:xfrm>
            <a:off x="8055864" y="4142232"/>
            <a:ext cx="3657600" cy="2331720"/>
          </a:xfrm>
          <a:prstGeom prst="roundRect">
            <a:avLst>
              <a:gd name="adj" fmla="val 7059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38744" y="4325112"/>
            <a:ext cx="365760" cy="365760"/>
          </a:xfrm>
          <a:prstGeom prst="ellipse">
            <a:avLst/>
          </a:prstGeom>
          <a:solidFill>
            <a:srgbClr val="6DD5A3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38744" y="4325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💬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741664" y="432511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钉钉集成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284464" y="4828032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日程 / 工作通知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互动卡片 / 群机器人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OA 审批 / 工作台卡片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员工无需跳出钉钉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834640" cy="292608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CHAPTER 05 · AI 智能亮点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D9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5.1 HR-Agent · 5.2 开放 API + MCP Server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5.1 HR-Agent · 5.2 开放 API + MCP Server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57784" y="1426464"/>
            <a:ext cx="5577840" cy="5029200"/>
          </a:xfrm>
          <a:prstGeom prst="roundRect">
            <a:avLst>
              <a:gd name="adj" fmla="val 3273"/>
            </a:avLst>
          </a:prstGeom>
          <a:solidFill>
            <a:srgbClr val="FF4757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371600"/>
            <a:ext cx="5577840" cy="5029200"/>
          </a:xfrm>
          <a:prstGeom prst="roundRect">
            <a:avLst>
              <a:gd name="adj" fmla="val 3273"/>
            </a:avLst>
          </a:prstGeom>
          <a:solidFill>
            <a:srgbClr val="FFFAFA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630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4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920240" y="1463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HR-Agent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920240" y="1920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自然语言运营 · Function Calling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37744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46888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DD5A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HR 输入：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给销售部发一场月底冲刺活动,下周三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18:00,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93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主推团队协作维度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奖励 50 分,限 30 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" y="3547872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520440"/>
            <a:ext cx="329184" cy="329184"/>
          </a:xfrm>
          <a:prstGeom prst="ellipse">
            <a:avLst/>
          </a:prstGeom>
          <a:solidFill>
            <a:srgbClr val="FFD93D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520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35204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活动创建工具 → 绑定"团队协作"维度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" y="4005072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3977640"/>
            <a:ext cx="329184" cy="329184"/>
          </a:xfrm>
          <a:prstGeom prst="ellipse">
            <a:avLst/>
          </a:prstGeom>
          <a:solidFill>
            <a:srgbClr val="FFD93D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977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3977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内容生成工具 → 海报 + 推送文案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(注入价值观语境)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" y="4462272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434840"/>
            <a:ext cx="329184" cy="329184"/>
          </a:xfrm>
          <a:prstGeom prst="ellipse">
            <a:avLst/>
          </a:prstGeom>
          <a:solidFill>
            <a:srgbClr val="FFD93D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4348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44348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钉钉日程工具 → 创建日程邀请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672" y="4919472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4892040"/>
            <a:ext cx="329184" cy="329184"/>
          </a:xfrm>
          <a:prstGeom prst="ellipse">
            <a:avLst/>
          </a:prstGeom>
          <a:solidFill>
            <a:srgbClr val="FFD93D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892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48920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互动卡片工具 → 群内可点击报名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" y="5376672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" y="5349240"/>
            <a:ext cx="329184" cy="329184"/>
          </a:xfrm>
          <a:prstGeom prst="ellipse">
            <a:avLst/>
          </a:prstGeom>
          <a:solidFill>
            <a:srgbClr val="FFD93D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3492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88720" y="5349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群机器人工具 → 部门群播报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4672" y="5833872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34" name="Shape 32"/>
          <p:cNvSpPr/>
          <p:nvPr/>
        </p:nvSpPr>
        <p:spPr>
          <a:xfrm>
            <a:off x="777240" y="5806440"/>
            <a:ext cx="329184" cy="329184"/>
          </a:xfrm>
          <a:prstGeom prst="ellipse">
            <a:avLst/>
          </a:prstGeom>
          <a:solidFill>
            <a:srgbClr val="FFD93D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806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88720" y="58064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返回结构化执行报告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18504" y="1426464"/>
            <a:ext cx="5486400" cy="5029200"/>
          </a:xfrm>
          <a:prstGeom prst="roundRect">
            <a:avLst>
              <a:gd name="adj" fmla="val 3273"/>
            </a:avLst>
          </a:prstGeom>
          <a:solidFill>
            <a:srgbClr val="4FACFE"/>
          </a:solidFill>
          <a:ln/>
        </p:spPr>
      </p:sp>
      <p:sp>
        <p:nvSpPr>
          <p:cNvPr id="38" name="Shape 36"/>
          <p:cNvSpPr/>
          <p:nvPr/>
        </p:nvSpPr>
        <p:spPr>
          <a:xfrm>
            <a:off x="6263640" y="1371600"/>
            <a:ext cx="5486400" cy="5029200"/>
          </a:xfrm>
          <a:prstGeom prst="roundRect">
            <a:avLst>
              <a:gd name="adj" fmla="val 3273"/>
            </a:avLst>
          </a:prstGeom>
          <a:solidFill>
            <a:srgbClr val="F5FAFF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14630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FAC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5.2</a:t>
            </a:r>
            <a:endParaRPr lang="en-US" sz="4400" dirty="0"/>
          </a:p>
        </p:txBody>
      </p:sp>
      <p:sp>
        <p:nvSpPr>
          <p:cNvPr id="40" name="Text 38"/>
          <p:cNvSpPr/>
          <p:nvPr/>
        </p:nvSpPr>
        <p:spPr>
          <a:xfrm>
            <a:off x="7680960" y="1463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开放 API + MCP Server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680960" y="1920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两层对外开放能力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46520" y="237744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24688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AC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REST OpenAPI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537960" y="2788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 API + OAuth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企业自有系统对接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098280" y="237744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1A1A1A"/>
          </a:solidFill>
          <a:ln/>
        </p:spPr>
      </p:sp>
      <p:sp>
        <p:nvSpPr>
          <p:cNvPr id="46" name="Text 44"/>
          <p:cNvSpPr/>
          <p:nvPr/>
        </p:nvSpPr>
        <p:spPr>
          <a:xfrm>
            <a:off x="9189720" y="24688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★ MCP Server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189720" y="2788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完整业务工具集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客户端直连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446520" y="35204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0" y="361188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📦 MCP 工具集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583680" y="4023360"/>
            <a:ext cx="1417320" cy="384048"/>
          </a:xfrm>
          <a:prstGeom prst="roundRect">
            <a:avLst>
              <a:gd name="adj" fmla="val 9524"/>
            </a:avLst>
          </a:prstGeom>
          <a:solidFill>
            <a:srgbClr val="FFD93D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0" y="40233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查询积分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074152" y="4023360"/>
            <a:ext cx="1417320" cy="384048"/>
          </a:xfrm>
          <a:prstGeom prst="roundRect">
            <a:avLst>
              <a:gd name="adj" fmla="val 9524"/>
            </a:avLst>
          </a:prstGeom>
          <a:solidFill>
            <a:srgbClr val="FF9F43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74152" y="40233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加分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9564624" y="4023360"/>
            <a:ext cx="1417320" cy="384048"/>
          </a:xfrm>
          <a:prstGeom prst="roundRect">
            <a:avLst>
              <a:gd name="adj" fmla="val 9524"/>
            </a:avLst>
          </a:prstGeom>
          <a:solidFill>
            <a:srgbClr val="FF7EB3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564624" y="40233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发布活动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583680" y="4498848"/>
            <a:ext cx="1417320" cy="384048"/>
          </a:xfrm>
          <a:prstGeom prst="roundRect">
            <a:avLst>
              <a:gd name="adj" fmla="val 9524"/>
            </a:avLst>
          </a:prstGeom>
          <a:solidFill>
            <a:srgbClr val="4FACFE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83680" y="449884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查排名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8074152" y="4498848"/>
            <a:ext cx="1417320" cy="384048"/>
          </a:xfrm>
          <a:prstGeom prst="roundRect">
            <a:avLst>
              <a:gd name="adj" fmla="val 9524"/>
            </a:avLst>
          </a:prstGeom>
          <a:solidFill>
            <a:srgbClr val="6DD5A3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74152" y="449884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颁发徽章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9564624" y="4498848"/>
            <a:ext cx="1417320" cy="384048"/>
          </a:xfrm>
          <a:prstGeom prst="roundRect">
            <a:avLst>
              <a:gd name="adj" fmla="val 9524"/>
            </a:avLst>
          </a:prstGeom>
          <a:solidFill>
            <a:srgbClr val="A55EEA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564624" y="449884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调用钉钉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446520" y="507492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FFCE8"/>
          </a:solidFill>
          <a:ln w="22860">
            <a:solidFill>
              <a:srgbClr val="FF4757"/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6583680" y="50749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兼容客户端：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Desktop · ChatGPT · Cursor · 任意支持 MCP 的 AI 工具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834640" cy="292608"/>
          </a:xfrm>
          <a:prstGeom prst="roundRect">
            <a:avLst>
              <a:gd name="adj" fmla="val 50000"/>
            </a:avLst>
          </a:prstGeom>
          <a:solidFill>
            <a:srgbClr val="FF7EB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CHAPTER 05 · AI 智能亮点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D9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5.3 AI 内容生成 · 5.4 AI 数据洞察 Dashboard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5.3 AI 内容生成 · 5.4 AI 数据洞察 Dashboard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57784" y="1426464"/>
            <a:ext cx="5577840" cy="5029200"/>
          </a:xfrm>
          <a:prstGeom prst="roundRect">
            <a:avLst>
              <a:gd name="adj" fmla="val 3273"/>
            </a:avLst>
          </a:prstGeom>
          <a:solidFill>
            <a:srgbClr val="FF7EB3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371600"/>
            <a:ext cx="5577840" cy="5029200"/>
          </a:xfrm>
          <a:prstGeom prst="roundRect">
            <a:avLst>
              <a:gd name="adj" fmla="val 3273"/>
            </a:avLst>
          </a:prstGeom>
          <a:solidFill>
            <a:srgbClr val="FFF8FB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630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7E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5.3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920240" y="1463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内容生成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920240" y="1920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 → 全套素材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42316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514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2880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活动文案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注入价值观关键词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语境贴合企业文化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242316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2514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20440" y="2880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活动海报 / 奖品图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044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通义万相 / SD-XL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" y="384048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931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4400" y="4297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钉钉推送话术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617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正式 / 活泼 / 紧急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多语气切换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384048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3931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🔳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520440" y="4297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签到二维码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20440" y="4617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嵌入品牌元素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7240" y="534924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1A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349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FLOW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91640" y="53492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 → HR 确认 → 一键全渠道分发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18504" y="1426464"/>
            <a:ext cx="5486400" cy="5029200"/>
          </a:xfrm>
          <a:prstGeom prst="roundRect">
            <a:avLst>
              <a:gd name="adj" fmla="val 3273"/>
            </a:avLst>
          </a:prstGeom>
          <a:solidFill>
            <a:srgbClr val="A55EEA"/>
          </a:solidFill>
          <a:ln/>
        </p:spPr>
      </p:sp>
      <p:sp>
        <p:nvSpPr>
          <p:cNvPr id="31" name="Shape 29"/>
          <p:cNvSpPr/>
          <p:nvPr/>
        </p:nvSpPr>
        <p:spPr>
          <a:xfrm>
            <a:off x="6263640" y="1371600"/>
            <a:ext cx="5486400" cy="5029200"/>
          </a:xfrm>
          <a:prstGeom prst="roundRect">
            <a:avLst>
              <a:gd name="adj" fmla="val 3273"/>
            </a:avLst>
          </a:prstGeom>
          <a:solidFill>
            <a:srgbClr val="F8F0FF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14630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55EE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5.4</a:t>
            </a:r>
            <a:endParaRPr lang="en-US" sz="4400" dirty="0"/>
          </a:p>
        </p:txBody>
      </p:sp>
      <p:sp>
        <p:nvSpPr>
          <p:cNvPr id="33" name="Text 31"/>
          <p:cNvSpPr/>
          <p:nvPr/>
        </p:nvSpPr>
        <p:spPr>
          <a:xfrm>
            <a:off x="7680960" y="1463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数据洞察 Dashboard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680960" y="1920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Text-to-SQL Agent · 归因引擎 · RAG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46520" y="2377440"/>
            <a:ext cx="5166360" cy="640080"/>
          </a:xfrm>
          <a:prstGeom prst="roundRect">
            <a:avLst>
              <a:gd name="adj" fmla="val 11429"/>
            </a:avLst>
          </a:prstGeom>
          <a:solidFill>
            <a:srgbClr val="1A1A1A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DD5A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输入查询：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本季度哪个价值观维度参与度最低?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46520" y="3154680"/>
            <a:ext cx="51663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324612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55EE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自动归因输出：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『诚信务实』维度参与度 </a:t>
            </a:r>
            <a:pPr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12%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远低于其他维度均值 28%。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主要原因：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该维度仅举办 2 场活动,
均集中在 1 月。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建议：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增加项目复盘类活动
② 设置维度均衡补贴积分
③ 关联现有 OKR 复盘流程
</a:t>
            </a:r>
            <a:pPr indent="0" marL="0">
              <a:buNone/>
            </a:pPr>
            <a:r>
              <a:rPr lang="en-US" sz="1100" b="1" dirty="0">
                <a:solidFill>
                  <a:srgbClr val="38B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预测：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调整后参与度可回升至 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25%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478024" cy="292608"/>
          </a:xfrm>
          <a:prstGeom prst="roundRect">
            <a:avLst>
              <a:gd name="adj" fmla="val 50000"/>
            </a:avLst>
          </a:prstGeom>
          <a:solidFill>
            <a:srgbClr val="38B6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2478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CHAPTER 05 · 独家亮点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D9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5.5 AI 价值观平衡引擎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5.5 AI 价值观平衡引擎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业内首创 · 避免"年终复盘才发现某价值观全年只有 2 场活动"的运营盲区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7784" y="1746504"/>
            <a:ext cx="5577840" cy="4572000"/>
          </a:xfrm>
          <a:prstGeom prst="roundRect">
            <a:avLst>
              <a:gd name="adj" fmla="val 3600"/>
            </a:avLst>
          </a:prstGeom>
          <a:solidFill>
            <a:srgbClr val="38B6A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691640"/>
            <a:ext cx="5577840" cy="4572000"/>
          </a:xfrm>
          <a:prstGeom prst="roundRect">
            <a:avLst>
              <a:gd name="adj" fmla="val 3600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828800"/>
            <a:ext cx="365760" cy="365760"/>
          </a:xfrm>
          <a:prstGeom prst="ellipse">
            <a:avLst/>
          </a:prstGeom>
          <a:solidFill>
            <a:srgbClr val="38B6A8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📊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大主动监测能力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4672" y="2496312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468880"/>
            <a:ext cx="329184" cy="329184"/>
          </a:xfrm>
          <a:prstGeom prst="ellipse">
            <a:avLst/>
          </a:prstGeom>
          <a:solidFill>
            <a:srgbClr val="FF9F43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468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维度均衡度评分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基于活动数 / 参与人次 / 积分总量综合计算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" y="3410712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3383280"/>
            <a:ext cx="329184" cy="329184"/>
          </a:xfrm>
          <a:prstGeom prst="ellipse">
            <a:avLst/>
          </a:prstGeom>
          <a:solidFill>
            <a:srgbClr val="FF4757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383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失衡预警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某维度连续 N 周低于阈值时自动提醒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4672" y="4325112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4297680"/>
            <a:ext cx="329184" cy="329184"/>
          </a:xfrm>
          <a:prstGeom prst="ellipse">
            <a:avLst/>
          </a:prstGeom>
          <a:solidFill>
            <a:srgbClr val="4FACFE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297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8016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活动建议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自动推荐补足该维度的活动模板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4672" y="5239512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8" name="Shape 26"/>
          <p:cNvSpPr/>
          <p:nvPr/>
        </p:nvSpPr>
        <p:spPr>
          <a:xfrm>
            <a:off x="777240" y="5212080"/>
            <a:ext cx="329184" cy="329184"/>
          </a:xfrm>
          <a:prstGeom prst="ellipse">
            <a:avLst/>
          </a:prstGeom>
          <a:solidFill>
            <a:srgbClr val="A55EEA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2120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80160" y="5212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HR-Agent 联动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80160" y="5577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HR 发布活动时,若选择已饱和维度,主动建议改投薄弱维度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18504" y="1746504"/>
            <a:ext cx="5486400" cy="3108960"/>
          </a:xfrm>
          <a:prstGeom prst="roundRect">
            <a:avLst>
              <a:gd name="adj" fmla="val 5294"/>
            </a:avLst>
          </a:prstGeom>
          <a:solidFill>
            <a:srgbClr val="FFD93D"/>
          </a:solidFill>
          <a:ln/>
        </p:spPr>
      </p:sp>
      <p:sp>
        <p:nvSpPr>
          <p:cNvPr id="33" name="Shape 31"/>
          <p:cNvSpPr/>
          <p:nvPr/>
        </p:nvSpPr>
        <p:spPr>
          <a:xfrm>
            <a:off x="6263640" y="1691640"/>
            <a:ext cx="5486400" cy="3108960"/>
          </a:xfrm>
          <a:prstGeom prst="roundRect">
            <a:avLst>
              <a:gd name="adj" fmla="val 5294"/>
            </a:avLst>
          </a:prstGeom>
          <a:solidFill>
            <a:srgbClr val="FFFCE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6520" y="1828800"/>
            <a:ext cx="365760" cy="365760"/>
          </a:xfrm>
          <a:prstGeom prst="ellipse">
            <a:avLst/>
          </a:prstGeom>
          <a:solidFill>
            <a:srgbClr val="FFD93D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⚠️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494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失衡预警示例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400800" y="233172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FF5E8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23317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F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82%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00800" y="27889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客户至上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65592" y="233172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E8F4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65592" y="23317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AC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76%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165592" y="27889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团队协作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930384" y="233172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FE8F0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30384" y="23317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E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68%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930384" y="27889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创新求变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0" y="3182112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FE5E5"/>
          </a:solidFill>
          <a:ln w="38100">
            <a:solidFill>
              <a:srgbClr val="FF475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0" y="318211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12% ⚠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00800" y="363931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诚信务实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165592" y="3182112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5E8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65592" y="318211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55EE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71%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165592" y="363931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极致专注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930384" y="3182112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FFCE0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930384" y="318211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93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79%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930384" y="363931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学习成长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400800" y="411480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FFE5E5"/>
          </a:solidFill>
          <a:ln w="25400">
            <a:solidFill>
              <a:srgbClr val="FF475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37960" y="411480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🚨 系统预警：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诚信务实维度参与度连续 6 周低于 20% 阈值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318504" y="5038344"/>
            <a:ext cx="5486400" cy="1280160"/>
          </a:xfrm>
          <a:prstGeom prst="roundRect">
            <a:avLst>
              <a:gd name="adj" fmla="val 12857"/>
            </a:avLst>
          </a:prstGeom>
          <a:solidFill>
            <a:srgbClr val="4FACFE"/>
          </a:solidFill>
          <a:ln/>
        </p:spPr>
      </p:sp>
      <p:sp>
        <p:nvSpPr>
          <p:cNvPr id="58" name="Shape 56"/>
          <p:cNvSpPr/>
          <p:nvPr/>
        </p:nvSpPr>
        <p:spPr>
          <a:xfrm>
            <a:off x="6263640" y="4983480"/>
            <a:ext cx="5486400" cy="1280160"/>
          </a:xfrm>
          <a:prstGeom prst="roundRect">
            <a:avLst>
              <a:gd name="adj" fmla="val 12857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46520" y="5166360"/>
            <a:ext cx="347472" cy="347472"/>
          </a:xfrm>
          <a:prstGeom prst="ellipse">
            <a:avLst/>
          </a:prstGeom>
          <a:solidFill>
            <a:srgbClr val="4FACFE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46520" y="51663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💎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6903720" y="5166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核心价值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6446520" y="562356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 HR 从"</a:t>
            </a:r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回顾式被动管理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"变成"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highlight>
                  <a:srgbClr val="FF7EB3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前瞻式主动运营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478024" cy="292608"/>
          </a:xfrm>
          <a:prstGeom prst="roundRect">
            <a:avLst>
              <a:gd name="adj" fmla="val 50000"/>
            </a:avLst>
          </a:prstGeom>
          <a:solidFill>
            <a:srgbClr val="FF9F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2478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CHAPTER 05 · 补充亮点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D9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5.6 盲盒主持 · 5.7 跨企业指数 · 5.8 反作弊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5.6 盲盒主持 · 5.7 跨企业指数 · 5.8 反作弊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57784" y="1746504"/>
            <a:ext cx="3657600" cy="4389120"/>
          </a:xfrm>
          <a:prstGeom prst="roundRect">
            <a:avLst>
              <a:gd name="adj" fmla="val 4500"/>
            </a:avLst>
          </a:prstGeom>
          <a:solidFill>
            <a:srgbClr val="FF7EB3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691640"/>
            <a:ext cx="3657600" cy="4389120"/>
          </a:xfrm>
          <a:prstGeom prst="roundRect">
            <a:avLst>
              <a:gd name="adj" fmla="val 4500"/>
            </a:avLst>
          </a:prstGeom>
          <a:solidFill>
            <a:srgbClr val="FFF8FB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83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7E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828800" y="1783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盲盒互动主持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商城趣味性 / 传播性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25603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🎁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685800" y="40233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Live2D 形象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动态呈现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TTS 语音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实时合成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文案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基于中奖结果 + 员工历史行为生成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544068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440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E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技术栈：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Live2D Cubism + 火山 TTS + Claude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52544" y="1746504"/>
            <a:ext cx="3657600" cy="4389120"/>
          </a:xfrm>
          <a:prstGeom prst="roundRect">
            <a:avLst>
              <a:gd name="adj" fmla="val 4500"/>
            </a:avLst>
          </a:prstGeom>
          <a:solidFill>
            <a:srgbClr val="4FACFE"/>
          </a:solidFill>
          <a:ln/>
        </p:spPr>
      </p:sp>
      <p:sp>
        <p:nvSpPr>
          <p:cNvPr id="16" name="Shape 14"/>
          <p:cNvSpPr/>
          <p:nvPr/>
        </p:nvSpPr>
        <p:spPr>
          <a:xfrm>
            <a:off x="4297680" y="1691640"/>
            <a:ext cx="3657600" cy="4389120"/>
          </a:xfrm>
          <a:prstGeom prst="roundRect">
            <a:avLst>
              <a:gd name="adj" fmla="val 4500"/>
            </a:avLst>
          </a:prstGeom>
          <a:solidFill>
            <a:srgbClr val="F5FAFF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1783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FAC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5.7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623560" y="1783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跨企业文化指数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2356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行业级文化对标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0560" y="2560320"/>
            <a:ext cx="32918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2606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🏆 互联网赛道 · 团队协作维度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1772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🥇 互联网 A 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29260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91.2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🥈 互联网 B 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03720" y="329184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89.5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26280" y="3657600"/>
            <a:ext cx="3200400" cy="36576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🥉 我司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03720" y="36576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87.2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17720" y="4023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 互联网 D 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03720" y="40233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82.1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80560" y="4617720"/>
            <a:ext cx="32918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企业自愿 opt-in 接入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仅展示匿名代号 + 指数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按维度跨企业对标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形成行业价值观图谱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47304" y="1746504"/>
            <a:ext cx="3657600" cy="4389120"/>
          </a:xfrm>
          <a:prstGeom prst="roundRect">
            <a:avLst>
              <a:gd name="adj" fmla="val 4500"/>
            </a:avLst>
          </a:prstGeom>
          <a:solidFill>
            <a:srgbClr val="A55EEA"/>
          </a:solidFill>
          <a:ln/>
        </p:spPr>
      </p:sp>
      <p:sp>
        <p:nvSpPr>
          <p:cNvPr id="33" name="Shape 31"/>
          <p:cNvSpPr/>
          <p:nvPr/>
        </p:nvSpPr>
        <p:spPr>
          <a:xfrm>
            <a:off x="8092440" y="1691640"/>
            <a:ext cx="3657600" cy="4389120"/>
          </a:xfrm>
          <a:prstGeom prst="roundRect">
            <a:avLst>
              <a:gd name="adj" fmla="val 4500"/>
            </a:avLst>
          </a:prstGeom>
          <a:solidFill>
            <a:srgbClr val="F9F0FC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75320" y="1783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55EE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5.8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9418320" y="1783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反作弊检测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41832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实时异常监测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275320" y="2560320"/>
            <a:ext cx="32918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25400">
            <a:solidFill>
              <a:srgbClr val="FF4757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8412480" y="2651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⚠️ 异常监测维度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412480" y="2971800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 IP 多次扫码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部门积分异常膨胀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兑换频次异常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非工作时段密集操作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275320" y="438912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/>
        </p:spPr>
      </p:sp>
      <p:sp>
        <p:nvSpPr>
          <p:cNvPr id="41" name="Text 39"/>
          <p:cNvSpPr/>
          <p:nvPr/>
        </p:nvSpPr>
        <p:spPr>
          <a:xfrm>
            <a:off x="8412480" y="4434840"/>
            <a:ext cx="31089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D9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技术管道：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规则引擎 + 孤立森林算法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LLM 生成可读工单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HR 一键审核处置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02920" y="6263640"/>
            <a:ext cx="11247120" cy="457200"/>
          </a:xfrm>
          <a:prstGeom prst="roundRect">
            <a:avLst>
              <a:gd name="adj" fmla="val 20000"/>
            </a:avLst>
          </a:prstGeom>
          <a:solidFill>
            <a:srgbClr val="1A1A1A"/>
          </a:solidFill>
          <a:ln/>
        </p:spPr>
      </p:sp>
      <p:sp>
        <p:nvSpPr>
          <p:cNvPr id="43" name="Shape 41"/>
          <p:cNvSpPr/>
          <p:nvPr/>
        </p:nvSpPr>
        <p:spPr>
          <a:xfrm>
            <a:off x="722376" y="6373368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A1A1A"/>
          </a:solidFill>
          <a:ln/>
        </p:spPr>
      </p:sp>
      <p:sp>
        <p:nvSpPr>
          <p:cNvPr id="44" name="Shape 42"/>
          <p:cNvSpPr/>
          <p:nvPr/>
        </p:nvSpPr>
        <p:spPr>
          <a:xfrm>
            <a:off x="685800" y="6336792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FD93D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63367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大 AI 模块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651760" y="6263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HR-Agent · MCP · 内容生成 · 数据洞察 · </a:t>
            </a:r>
            <a:pPr indent="0" marL="0">
              <a:buNone/>
            </a:pPr>
            <a:r>
              <a:rPr lang="en-US" sz="1100" b="1" dirty="0">
                <a:solidFill>
                  <a:srgbClr val="FFD9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价值观平衡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盲盒主持 · 跨企业 · 反作弊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6DD5A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CHAPTER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D9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钉钉深度集成 · 已核验官方 API 边界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钉钉深度集成 · 已核验官方 API 边界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基于钉钉开放平台官方文档核验,明确能做、不能做、需注意的边界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7784" y="1746504"/>
            <a:ext cx="7040880" cy="4572000"/>
          </a:xfrm>
          <a:prstGeom prst="roundRect">
            <a:avLst>
              <a:gd name="adj" fmla="val 3600"/>
            </a:avLst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691640"/>
            <a:ext cx="7040880" cy="4572000"/>
          </a:xfrm>
          <a:prstGeom prst="roundRect">
            <a:avLst>
              <a:gd name="adj" fmla="val 3600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91640"/>
            <a:ext cx="704088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91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✅ 实施清单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691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0" y="1691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钉钉 API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活动日程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40280" y="21945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自动创建日程并邀请员工,接受=报名意向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0" y="21945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日历 API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34640"/>
            <a:ext cx="7040880" cy="640080"/>
          </a:xfrm>
          <a:prstGeom prst="rect">
            <a:avLst/>
          </a:prstGeom>
          <a:solidFill>
            <a:srgbClr val="FAFAF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346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互动卡片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40280" y="2834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群内/个人推送可点击报名卡片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28346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互动卡片 + 回调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4747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工作通知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40280" y="34747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个人级活动/中奖/积分通知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0" y="34747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asyncsend_v2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114800"/>
            <a:ext cx="7040880" cy="640080"/>
          </a:xfrm>
          <a:prstGeom prst="rect">
            <a:avLst/>
          </a:prstGeom>
          <a:solidFill>
            <a:srgbClr val="FAFAF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1148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群机器人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40280" y="4114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部门群周报、月榜、获奖播报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41148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自定义机器人 webhook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7548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OA 审批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40280" y="47548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积分异议申诉、大额调整走标准审批流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4754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审批流 API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5394960"/>
            <a:ext cx="7040880" cy="640080"/>
          </a:xfrm>
          <a:prstGeom prst="rect">
            <a:avLst/>
          </a:prstGeom>
          <a:solidFill>
            <a:srgbClr val="FAFAF3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3949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工作台卡片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240280" y="5394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钉钉首页"我的积分"一屏直达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53949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自定义工作台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81544" y="1746504"/>
            <a:ext cx="4023360" cy="1417320"/>
          </a:xfrm>
          <a:prstGeom prst="roundRect">
            <a:avLst>
              <a:gd name="adj" fmla="val 11613"/>
            </a:avLst>
          </a:prstGeom>
          <a:solidFill>
            <a:srgbClr val="FF9F43"/>
          </a:solidFill>
          <a:ln/>
        </p:spPr>
      </p:sp>
      <p:sp>
        <p:nvSpPr>
          <p:cNvPr id="35" name="Shape 33"/>
          <p:cNvSpPr/>
          <p:nvPr/>
        </p:nvSpPr>
        <p:spPr>
          <a:xfrm>
            <a:off x="7726680" y="1691640"/>
            <a:ext cx="4023360" cy="1417320"/>
          </a:xfrm>
          <a:prstGeom prst="roundRect">
            <a:avLst>
              <a:gd name="adj" fmla="val 11613"/>
            </a:avLst>
          </a:prstGeom>
          <a:solidFill>
            <a:srgbClr val="FFF8E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09560" y="1828800"/>
            <a:ext cx="347472" cy="347472"/>
          </a:xfrm>
          <a:prstGeom prst="ellipse">
            <a:avLst/>
          </a:prstGeom>
          <a:solidFill>
            <a:srgbClr val="FF9F43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09560" y="1828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⚠️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36676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谨慎使用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909560" y="22402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DING 强提醒：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仅企业自建应用 + 专业版有配额,限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highlight>
                  <a:srgbClr val="FFD93D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关键事件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 (中奖通知、异议结果)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781544" y="3300984"/>
            <a:ext cx="4023360" cy="1417320"/>
          </a:xfrm>
          <a:prstGeom prst="roundRect">
            <a:avLst>
              <a:gd name="adj" fmla="val 11613"/>
            </a:avLst>
          </a:prstGeom>
          <a:solidFill>
            <a:srgbClr val="FF4757"/>
          </a:solidFill>
          <a:ln/>
        </p:spPr>
      </p:sp>
      <p:sp>
        <p:nvSpPr>
          <p:cNvPr id="41" name="Shape 39"/>
          <p:cNvSpPr/>
          <p:nvPr/>
        </p:nvSpPr>
        <p:spPr>
          <a:xfrm>
            <a:off x="7726680" y="3246120"/>
            <a:ext cx="4023360" cy="1417320"/>
          </a:xfrm>
          <a:prstGeom prst="roundRect">
            <a:avLst>
              <a:gd name="adj" fmla="val 11613"/>
            </a:avLst>
          </a:prstGeom>
          <a:solidFill>
            <a:srgbClr val="FFF5F5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09560" y="3383280"/>
            <a:ext cx="347472" cy="347472"/>
          </a:xfrm>
          <a:prstGeom prst="ellipse">
            <a:avLst/>
          </a:prstGeom>
          <a:solidFill>
            <a:srgbClr val="FF4757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09560" y="3383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❌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36676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自建模块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909560" y="37947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签到模块自研：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钉钉考勤 API 仅只读,自建 H5 + 二维码动态刷新 + GPS / WiFi 围栏 +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FF7EB3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防代签随机校验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781544" y="4855464"/>
            <a:ext cx="4023360" cy="1417320"/>
          </a:xfrm>
          <a:prstGeom prst="roundRect">
            <a:avLst>
              <a:gd name="adj" fmla="val 11613"/>
            </a:avLst>
          </a:prstGeom>
          <a:solidFill>
            <a:srgbClr val="4FACFE"/>
          </a:solidFill>
          <a:ln/>
        </p:spPr>
      </p:sp>
      <p:sp>
        <p:nvSpPr>
          <p:cNvPr id="47" name="Shape 45"/>
          <p:cNvSpPr/>
          <p:nvPr/>
        </p:nvSpPr>
        <p:spPr>
          <a:xfrm>
            <a:off x="7726680" y="4800600"/>
            <a:ext cx="4023360" cy="1417320"/>
          </a:xfrm>
          <a:prstGeom prst="roundRect">
            <a:avLst>
              <a:gd name="adj" fmla="val 11613"/>
            </a:avLst>
          </a:prstGeom>
          <a:solidFill>
            <a:srgbClr val="E8F4FF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09560" y="4937760"/>
            <a:ext cx="347472" cy="347472"/>
          </a:xfrm>
          <a:prstGeom prst="ellipse">
            <a:avLst/>
          </a:prstGeom>
          <a:solidFill>
            <a:srgbClr val="4FACFE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09560" y="49377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💰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366760" y="4937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配额预算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909560" y="53492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 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钉钉专业版 (50 万次 API/月)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预算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标准版 (1 万次/月)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4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无法支撑日常运营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4FACF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CHAPTER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D9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关键业务流程 · 活动发布到积分入账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关键业务流程 · 活动发布到积分入账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价值观维度贯穿全流程 · 自动化覆盖率 &gt; 80%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7784" y="1746504"/>
            <a:ext cx="11247120" cy="4937760"/>
          </a:xfrm>
          <a:prstGeom prst="roundRect">
            <a:avLst>
              <a:gd name="adj" fmla="val 3333"/>
            </a:avLst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691640"/>
            <a:ext cx="11247120" cy="4937760"/>
          </a:xfrm>
          <a:prstGeom prst="roundRect">
            <a:avLst>
              <a:gd name="adj" fmla="val 3333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" y="1901952"/>
            <a:ext cx="3291840" cy="640080"/>
          </a:xfrm>
          <a:prstGeom prst="roundRect">
            <a:avLst>
              <a:gd name="adj" fmla="val 8571"/>
            </a:avLst>
          </a:prstGeom>
          <a:solidFill>
            <a:srgbClr val="1A1A1A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1874520"/>
            <a:ext cx="3291840" cy="640080"/>
          </a:xfrm>
          <a:prstGeom prst="roundRect">
            <a:avLst>
              <a:gd name="adj" fmla="val 8571"/>
            </a:avLst>
          </a:prstGeom>
          <a:solidFill>
            <a:srgbClr val="FFD93D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874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HR 通过 Agent 发布活动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选择价值观维度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2194560"/>
            <a:ext cx="320040" cy="0"/>
          </a:xfrm>
          <a:prstGeom prst="line">
            <a:avLst/>
          </a:prstGeom>
          <a:noFill/>
          <a:ln w="2286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62272" y="1901952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1A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4434840" y="187452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FF7EB3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874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编排执行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2194560"/>
            <a:ext cx="320040" cy="0"/>
          </a:xfrm>
          <a:prstGeom prst="line">
            <a:avLst/>
          </a:prstGeom>
          <a:noFill/>
          <a:ln w="2286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159752" y="1901952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1A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0" y="1874520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18745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建活动记录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绑定维度标签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418320" y="2194560"/>
            <a:ext cx="274320" cy="0"/>
          </a:xfrm>
          <a:prstGeom prst="line">
            <a:avLst/>
          </a:prstGeom>
          <a:noFill/>
          <a:ln w="2286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720072" y="1901952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1A1A1A"/>
          </a:solidFill>
          <a:ln/>
        </p:spPr>
      </p:sp>
      <p:sp>
        <p:nvSpPr>
          <p:cNvPr id="22" name="Shape 20"/>
          <p:cNvSpPr/>
          <p:nvPr/>
        </p:nvSpPr>
        <p:spPr>
          <a:xfrm>
            <a:off x="9692640" y="187452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0" y="18745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钉钉日历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给员工建日程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23560" y="2514600"/>
            <a:ext cx="0" cy="320040"/>
          </a:xfrm>
          <a:prstGeom prst="line">
            <a:avLst/>
          </a:prstGeom>
          <a:noFill/>
          <a:ln w="2286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404872" y="2862072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/>
        </p:spPr>
      </p:sp>
      <p:sp>
        <p:nvSpPr>
          <p:cNvPr id="26" name="Shape 24"/>
          <p:cNvSpPr/>
          <p:nvPr/>
        </p:nvSpPr>
        <p:spPr>
          <a:xfrm>
            <a:off x="2377440" y="283464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0" y="2834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群机器人播报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65192" y="2862072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/>
        </p:spPr>
      </p:sp>
      <p:sp>
        <p:nvSpPr>
          <p:cNvPr id="29" name="Shape 27"/>
          <p:cNvSpPr/>
          <p:nvPr/>
        </p:nvSpPr>
        <p:spPr>
          <a:xfrm>
            <a:off x="4937760" y="283464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834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互动卡片个人推送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 flipH="1">
            <a:off x="5623560" y="3108960"/>
            <a:ext cx="-2057400" cy="0"/>
          </a:xfrm>
          <a:prstGeom prst="line">
            <a:avLst/>
          </a:prstGeom>
          <a:noFill/>
          <a:ln w="2286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126480" y="3337560"/>
            <a:ext cx="0" cy="274320"/>
          </a:xfrm>
          <a:prstGeom prst="line">
            <a:avLst/>
          </a:prstGeom>
          <a:noFill/>
          <a:ln w="2286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212080" y="3611880"/>
            <a:ext cx="1828800" cy="7772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36118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员工日程响应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50392" y="4645152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/>
        </p:spPr>
      </p:sp>
      <p:sp>
        <p:nvSpPr>
          <p:cNvPr id="36" name="Shape 34"/>
          <p:cNvSpPr/>
          <p:nvPr/>
        </p:nvSpPr>
        <p:spPr>
          <a:xfrm>
            <a:off x="822960" y="461772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6DD5A3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4617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✅ 标记报名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56632" y="4645152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/>
        </p:spPr>
      </p:sp>
      <p:sp>
        <p:nvSpPr>
          <p:cNvPr id="39" name="Shape 37"/>
          <p:cNvSpPr/>
          <p:nvPr/>
        </p:nvSpPr>
        <p:spPr>
          <a:xfrm>
            <a:off x="5029200" y="461772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EEEEEE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4617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标记弃权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262872" y="4645152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/>
        </p:spPr>
      </p:sp>
      <p:sp>
        <p:nvSpPr>
          <p:cNvPr id="42" name="Shape 40"/>
          <p:cNvSpPr/>
          <p:nvPr/>
        </p:nvSpPr>
        <p:spPr>
          <a:xfrm>
            <a:off x="9235440" y="461772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FFF5E8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35440" y="4617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 1h 卡片再催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 flipH="1">
            <a:off x="5440680" y="4370832"/>
            <a:ext cx="-3520440" cy="246888"/>
          </a:xfrm>
          <a:prstGeom prst="line">
            <a:avLst/>
          </a:prstGeom>
          <a:noFill/>
          <a:ln w="2286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3314700" y="43571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接受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26480" y="4389120"/>
            <a:ext cx="0" cy="228600"/>
          </a:xfrm>
          <a:prstGeom prst="line">
            <a:avLst/>
          </a:prstGeom>
          <a:noFill/>
          <a:ln w="2286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5760720" y="43662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拒绝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12280" y="4370832"/>
            <a:ext cx="3611880" cy="246888"/>
          </a:xfrm>
          <a:prstGeom prst="line">
            <a:avLst/>
          </a:prstGeom>
          <a:noFill/>
          <a:ln w="2286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8252460" y="43571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未响应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920240" y="5074920"/>
            <a:ext cx="0" cy="274320"/>
          </a:xfrm>
          <a:prstGeom prst="line">
            <a:avLst/>
          </a:prstGeom>
          <a:noFill/>
          <a:ln w="2286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576072" y="5376672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/>
        </p:spPr>
      </p:sp>
      <p:sp>
        <p:nvSpPr>
          <p:cNvPr id="52" name="Shape 50"/>
          <p:cNvSpPr/>
          <p:nvPr/>
        </p:nvSpPr>
        <p:spPr>
          <a:xfrm>
            <a:off x="548640" y="534924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6DD5A3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5349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员工扫码 → 自研签到校验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291840" y="5596128"/>
            <a:ext cx="274320" cy="0"/>
          </a:xfrm>
          <a:prstGeom prst="line">
            <a:avLst/>
          </a:prstGeom>
          <a:noFill/>
          <a:ln w="2286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3593592" y="5376672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/>
        </p:spPr>
      </p:sp>
      <p:sp>
        <p:nvSpPr>
          <p:cNvPr id="56" name="Shape 54"/>
          <p:cNvSpPr/>
          <p:nvPr/>
        </p:nvSpPr>
        <p:spPr>
          <a:xfrm>
            <a:off x="3566160" y="534924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4FACFE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66160" y="5349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积分服务加分 (按维度记账)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309360" y="5596128"/>
            <a:ext cx="274320" cy="0"/>
          </a:xfrm>
          <a:prstGeom prst="line">
            <a:avLst/>
          </a:prstGeom>
          <a:noFill/>
          <a:ln w="2286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6611112" y="5376672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/>
        </p:spPr>
      </p:sp>
      <p:sp>
        <p:nvSpPr>
          <p:cNvPr id="60" name="Shape 58"/>
          <p:cNvSpPr/>
          <p:nvPr/>
        </p:nvSpPr>
        <p:spPr>
          <a:xfrm>
            <a:off x="6583680" y="534924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A55EEA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83680" y="5349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徽章服务颁发徽章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869680" y="5596128"/>
            <a:ext cx="274320" cy="0"/>
          </a:xfrm>
          <a:prstGeom prst="line">
            <a:avLst/>
          </a:prstGeom>
          <a:noFill/>
          <a:ln w="2286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9171432" y="5376672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/>
        </p:spPr>
      </p:sp>
      <p:sp>
        <p:nvSpPr>
          <p:cNvPr id="64" name="Shape 62"/>
          <p:cNvSpPr/>
          <p:nvPr/>
        </p:nvSpPr>
        <p:spPr>
          <a:xfrm>
            <a:off x="9144000" y="534924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144000" y="5349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钉钉卡片 → 文化护照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02920" y="60807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★ 价值观维度贯穿全流程 · 节点 1 选择维度 → 节点 5 按维度记账 → 节点 6 维度徽章 → 节点 7 入护照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A55EE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CHAPTER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D9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整体架构 · 五层清晰分层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整体架构 · 五层清晰分层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★ MCP Server · ★ HR-Agent · ★ 价值观引擎 · ★ 自研签到 = 核心四发动机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9496" y="1591056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55448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FFAF0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1664208"/>
            <a:ext cx="868680" cy="557784"/>
          </a:xfrm>
          <a:prstGeom prst="roundRect">
            <a:avLst>
              <a:gd name="adj" fmla="val 8197"/>
            </a:avLst>
          </a:prstGeom>
          <a:solidFill>
            <a:srgbClr val="FF9F43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1664208"/>
            <a:ext cx="868680" cy="30678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2648" y="1943100"/>
            <a:ext cx="868680" cy="2788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接入层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618488" y="1783080"/>
            <a:ext cx="1819656" cy="36576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1600200" y="1755648"/>
            <a:ext cx="181965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286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1755648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📱 钉钉工作台 / H5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11296" y="178308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16" name="Shape 14"/>
          <p:cNvSpPr/>
          <p:nvPr/>
        </p:nvSpPr>
        <p:spPr>
          <a:xfrm>
            <a:off x="3493008" y="1755648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286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175564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💻 HR 后台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64608" y="1783080"/>
            <a:ext cx="3291840" cy="36576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19" name="Shape 17"/>
          <p:cNvSpPr/>
          <p:nvPr/>
        </p:nvSpPr>
        <p:spPr>
          <a:xfrm>
            <a:off x="4846320" y="1755648"/>
            <a:ext cx="32918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286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7556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🤖 外部 AI · Claude Desktop / ChatGPT / Cursor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89320" y="2350008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9496" y="2459736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242316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0F8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" y="2532888"/>
            <a:ext cx="868680" cy="557784"/>
          </a:xfrm>
          <a:prstGeom prst="roundRect">
            <a:avLst>
              <a:gd name="adj" fmla="val 8197"/>
            </a:avLst>
          </a:prstGeom>
          <a:solidFill>
            <a:srgbClr val="4FACFE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" y="2532888"/>
            <a:ext cx="868680" cy="30678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12648" y="2811780"/>
            <a:ext cx="868680" cy="2788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开放层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618488" y="2651760"/>
            <a:ext cx="3008376" cy="36576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28" name="Shape 26"/>
          <p:cNvSpPr/>
          <p:nvPr/>
        </p:nvSpPr>
        <p:spPr>
          <a:xfrm>
            <a:off x="1600200" y="2624328"/>
            <a:ext cx="300837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2860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00200" y="2624328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🔗 REST OpenAPI · OAuth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0016" y="2651760"/>
            <a:ext cx="2770632" cy="36576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31" name="Shape 29"/>
          <p:cNvSpPr/>
          <p:nvPr/>
        </p:nvSpPr>
        <p:spPr>
          <a:xfrm>
            <a:off x="4681728" y="2624328"/>
            <a:ext cx="2770632" cy="365760"/>
          </a:xfrm>
          <a:prstGeom prst="roundRect">
            <a:avLst>
              <a:gd name="adj" fmla="val 12500"/>
            </a:avLst>
          </a:prstGeom>
          <a:solidFill>
            <a:srgbClr val="FFD93D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1728" y="2624328"/>
            <a:ext cx="2770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★ MCP Server · 对外能力开放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89320" y="3218688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▼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9496" y="3328416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</p:sp>
      <p:sp>
        <p:nvSpPr>
          <p:cNvPr id="35" name="Shape 33"/>
          <p:cNvSpPr/>
          <p:nvPr/>
        </p:nvSpPr>
        <p:spPr>
          <a:xfrm>
            <a:off x="502920" y="329184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FF5F8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" y="3401568"/>
            <a:ext cx="868680" cy="557784"/>
          </a:xfrm>
          <a:prstGeom prst="roundRect">
            <a:avLst>
              <a:gd name="adj" fmla="val 8197"/>
            </a:avLst>
          </a:prstGeom>
          <a:solidFill>
            <a:srgbClr val="FF7EB3"/>
          </a:solidFill>
          <a:ln/>
        </p:spPr>
      </p:sp>
      <p:sp>
        <p:nvSpPr>
          <p:cNvPr id="37" name="Text 35"/>
          <p:cNvSpPr/>
          <p:nvPr/>
        </p:nvSpPr>
        <p:spPr>
          <a:xfrm>
            <a:off x="612648" y="3401568"/>
            <a:ext cx="868680" cy="30678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L3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12648" y="3680460"/>
            <a:ext cx="868680" cy="2788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智能体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618488" y="3520440"/>
            <a:ext cx="1938528" cy="36576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40" name="Shape 38"/>
          <p:cNvSpPr/>
          <p:nvPr/>
        </p:nvSpPr>
        <p:spPr>
          <a:xfrm>
            <a:off x="1600200" y="3493008"/>
            <a:ext cx="1938528" cy="365760"/>
          </a:xfrm>
          <a:prstGeom prst="roundRect">
            <a:avLst>
              <a:gd name="adj" fmla="val 12500"/>
            </a:avLst>
          </a:prstGeom>
          <a:solidFill>
            <a:srgbClr val="FFD93D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00200" y="3493008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★ HR-Agent 编排器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30168" y="3520440"/>
            <a:ext cx="1938528" cy="36576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43" name="Shape 41"/>
          <p:cNvSpPr/>
          <p:nvPr/>
        </p:nvSpPr>
        <p:spPr>
          <a:xfrm>
            <a:off x="3611880" y="3493008"/>
            <a:ext cx="1938528" cy="365760"/>
          </a:xfrm>
          <a:prstGeom prst="roundRect">
            <a:avLst>
              <a:gd name="adj" fmla="val 12500"/>
            </a:avLst>
          </a:prstGeom>
          <a:solidFill>
            <a:srgbClr val="38B6A8"/>
          </a:solidFill>
          <a:ln w="22860">
            <a:solidFill>
              <a:srgbClr val="1A1A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11880" y="3493008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⚖️ 价值观平衡 Agent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641848" y="3520440"/>
            <a:ext cx="1581912" cy="36576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46" name="Shape 44"/>
          <p:cNvSpPr/>
          <p:nvPr/>
        </p:nvSpPr>
        <p:spPr>
          <a:xfrm>
            <a:off x="5623560" y="3493008"/>
            <a:ext cx="1581912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2860">
            <a:solidFill>
              <a:srgbClr val="1A1A1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23560" y="3493008"/>
            <a:ext cx="1581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📊 洞察 Agent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296912" y="352044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49" name="Shape 47"/>
          <p:cNvSpPr/>
          <p:nvPr/>
        </p:nvSpPr>
        <p:spPr>
          <a:xfrm>
            <a:off x="7278624" y="3493008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2860">
            <a:solidFill>
              <a:srgbClr val="1A1A1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78624" y="34930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✍️ 内容生成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650224" y="3520440"/>
            <a:ext cx="1819656" cy="36576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52" name="Shape 50"/>
          <p:cNvSpPr/>
          <p:nvPr/>
        </p:nvSpPr>
        <p:spPr>
          <a:xfrm>
            <a:off x="8631936" y="3493008"/>
            <a:ext cx="181965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2860">
            <a:solidFill>
              <a:srgbClr val="1A1A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31936" y="3493008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🛡️ 反作弊 Agent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989320" y="4087368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▼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39496" y="4197096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</p:sp>
      <p:sp>
        <p:nvSpPr>
          <p:cNvPr id="56" name="Shape 54"/>
          <p:cNvSpPr/>
          <p:nvPr/>
        </p:nvSpPr>
        <p:spPr>
          <a:xfrm>
            <a:off x="502920" y="416052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0FFFB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12648" y="4270248"/>
            <a:ext cx="868680" cy="557784"/>
          </a:xfrm>
          <a:prstGeom prst="roundRect">
            <a:avLst>
              <a:gd name="adj" fmla="val 8197"/>
            </a:avLst>
          </a:prstGeom>
          <a:solidFill>
            <a:srgbClr val="38B6A8"/>
          </a:solidFill>
          <a:ln/>
        </p:spPr>
      </p:sp>
      <p:sp>
        <p:nvSpPr>
          <p:cNvPr id="58" name="Text 56"/>
          <p:cNvSpPr/>
          <p:nvPr/>
        </p:nvSpPr>
        <p:spPr>
          <a:xfrm>
            <a:off x="612648" y="4270248"/>
            <a:ext cx="868680" cy="30678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L4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612648" y="4549140"/>
            <a:ext cx="868680" cy="2788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应用层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618488" y="4389120"/>
            <a:ext cx="2889504" cy="36576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61" name="Shape 59"/>
          <p:cNvSpPr/>
          <p:nvPr/>
        </p:nvSpPr>
        <p:spPr>
          <a:xfrm>
            <a:off x="1600200" y="4361688"/>
            <a:ext cx="2889504" cy="365760"/>
          </a:xfrm>
          <a:prstGeom prst="roundRect">
            <a:avLst>
              <a:gd name="adj" fmla="val 12500"/>
            </a:avLst>
          </a:prstGeom>
          <a:solidFill>
            <a:srgbClr val="38B6A8"/>
          </a:solidFill>
          <a:ln w="22860">
            <a:solidFill>
              <a:srgbClr val="1A1A1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600200" y="4361688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🎯 价值观引擎 · 维度配置 / 均衡分析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81144" y="4389120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64" name="Shape 62"/>
          <p:cNvSpPr/>
          <p:nvPr/>
        </p:nvSpPr>
        <p:spPr>
          <a:xfrm>
            <a:off x="4562856" y="4361688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2860">
            <a:solidFill>
              <a:srgbClr val="1A1A1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62856" y="43616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💰 积分服务 · 维度记账 · TCC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306056" y="438912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67" name="Shape 65"/>
          <p:cNvSpPr/>
          <p:nvPr/>
        </p:nvSpPr>
        <p:spPr>
          <a:xfrm>
            <a:off x="7287768" y="4361688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2860">
            <a:solidFill>
              <a:srgbClr val="1A1A1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287768" y="43616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📅 活动服务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8659368" y="438912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70" name="Shape 68"/>
          <p:cNvSpPr/>
          <p:nvPr/>
        </p:nvSpPr>
        <p:spPr>
          <a:xfrm>
            <a:off x="8641080" y="4361688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2860">
            <a:solidFill>
              <a:srgbClr val="1A1A1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41080" y="43616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🎁 商城 / 盲盒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10195560" y="4389120"/>
            <a:ext cx="2532888" cy="36576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73" name="Shape 71"/>
          <p:cNvSpPr/>
          <p:nvPr/>
        </p:nvSpPr>
        <p:spPr>
          <a:xfrm>
            <a:off x="10177272" y="4361688"/>
            <a:ext cx="2532888" cy="365760"/>
          </a:xfrm>
          <a:prstGeom prst="roundRect">
            <a:avLst>
              <a:gd name="adj" fmla="val 12500"/>
            </a:avLst>
          </a:prstGeom>
          <a:solidFill>
            <a:srgbClr val="6DD5A3"/>
          </a:solidFill>
          <a:ln w="22860">
            <a:solidFill>
              <a:srgbClr val="1A1A1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177272" y="4361688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★ 自研签到 · H5+二维码+GPS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12801600" y="438912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76" name="Shape 74"/>
          <p:cNvSpPr/>
          <p:nvPr/>
        </p:nvSpPr>
        <p:spPr>
          <a:xfrm>
            <a:off x="12783312" y="4361688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2860">
            <a:solidFill>
              <a:srgbClr val="1A1A1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2783312" y="43616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🏅 成就 / 徽章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5989320" y="4956048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▼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539496" y="5065776"/>
            <a:ext cx="4572000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</p:sp>
      <p:sp>
        <p:nvSpPr>
          <p:cNvPr id="80" name="Shape 78"/>
          <p:cNvSpPr/>
          <p:nvPr/>
        </p:nvSpPr>
        <p:spPr>
          <a:xfrm>
            <a:off x="502920" y="5029200"/>
            <a:ext cx="4572000" cy="777240"/>
          </a:xfrm>
          <a:prstGeom prst="roundRect">
            <a:avLst>
              <a:gd name="adj" fmla="val 11765"/>
            </a:avLst>
          </a:prstGeom>
          <a:solidFill>
            <a:srgbClr val="FBF5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12648" y="5138928"/>
            <a:ext cx="731520" cy="557784"/>
          </a:xfrm>
          <a:prstGeom prst="roundRect">
            <a:avLst>
              <a:gd name="adj" fmla="val 8197"/>
            </a:avLst>
          </a:prstGeom>
          <a:solidFill>
            <a:srgbClr val="A55EEA"/>
          </a:solidFill>
          <a:ln/>
        </p:spPr>
      </p:sp>
      <p:sp>
        <p:nvSpPr>
          <p:cNvPr id="82" name="Text 80"/>
          <p:cNvSpPr/>
          <p:nvPr/>
        </p:nvSpPr>
        <p:spPr>
          <a:xfrm>
            <a:off x="612648" y="5138928"/>
            <a:ext cx="731520" cy="30678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钉钉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612648" y="5417820"/>
            <a:ext cx="731520" cy="2788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集成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463040" y="5285232"/>
            <a:ext cx="54864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463040" y="52852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日程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2057400" y="5285232"/>
            <a:ext cx="54864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057400" y="52852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卡片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2651760" y="5285232"/>
            <a:ext cx="54864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651760" y="52852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通知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3246120" y="5285232"/>
            <a:ext cx="54864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246120" y="52852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机器人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3840480" y="5285232"/>
            <a:ext cx="54864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840480" y="52852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审批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434840" y="5285232"/>
            <a:ext cx="54864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434840" y="528523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工作台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5202936" y="5065776"/>
            <a:ext cx="3291840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</p:sp>
      <p:sp>
        <p:nvSpPr>
          <p:cNvPr id="97" name="Shape 95"/>
          <p:cNvSpPr/>
          <p:nvPr/>
        </p:nvSpPr>
        <p:spPr>
          <a:xfrm>
            <a:off x="5166360" y="5029200"/>
            <a:ext cx="3291840" cy="777240"/>
          </a:xfrm>
          <a:prstGeom prst="roundRect">
            <a:avLst>
              <a:gd name="adj" fmla="val 11765"/>
            </a:avLst>
          </a:prstGeom>
          <a:solidFill>
            <a:srgbClr val="FFFCE8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276088" y="5138928"/>
            <a:ext cx="731520" cy="557784"/>
          </a:xfrm>
          <a:prstGeom prst="roundRect">
            <a:avLst>
              <a:gd name="adj" fmla="val 8197"/>
            </a:avLst>
          </a:prstGeom>
          <a:solidFill>
            <a:srgbClr val="B8932B"/>
          </a:solidFill>
          <a:ln/>
        </p:spPr>
      </p:sp>
      <p:sp>
        <p:nvSpPr>
          <p:cNvPr id="99" name="Text 97"/>
          <p:cNvSpPr/>
          <p:nvPr/>
        </p:nvSpPr>
        <p:spPr>
          <a:xfrm>
            <a:off x="5276088" y="5138928"/>
            <a:ext cx="731520" cy="30678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5276088" y="5417820"/>
            <a:ext cx="731520" cy="2788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Models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126480" y="5285232"/>
            <a:ext cx="71323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126480" y="528523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/ GPT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6885432" y="5285232"/>
            <a:ext cx="71323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885432" y="528523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通义万相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7644384" y="5285232"/>
            <a:ext cx="71323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644384" y="528523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TTS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8586216" y="5065776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</p:sp>
      <p:sp>
        <p:nvSpPr>
          <p:cNvPr id="108" name="Shape 106"/>
          <p:cNvSpPr/>
          <p:nvPr/>
        </p:nvSpPr>
        <p:spPr>
          <a:xfrm>
            <a:off x="85496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0FFF5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659368" y="5138928"/>
            <a:ext cx="731520" cy="557784"/>
          </a:xfrm>
          <a:prstGeom prst="roundRect">
            <a:avLst>
              <a:gd name="adj" fmla="val 8197"/>
            </a:avLst>
          </a:prstGeom>
          <a:solidFill>
            <a:srgbClr val="6DD5A3"/>
          </a:solidFill>
          <a:ln/>
        </p:spPr>
      </p:sp>
      <p:sp>
        <p:nvSpPr>
          <p:cNvPr id="110" name="Text 108"/>
          <p:cNvSpPr/>
          <p:nvPr/>
        </p:nvSpPr>
        <p:spPr>
          <a:xfrm>
            <a:off x="8659368" y="5138928"/>
            <a:ext cx="731520" cy="30678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8659368" y="5417820"/>
            <a:ext cx="731520" cy="2788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多租户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9509760" y="5285232"/>
            <a:ext cx="71323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509760" y="528523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🗄️ MySQL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10268712" y="5285232"/>
            <a:ext cx="71323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0268712" y="528523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⚡ Redis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11027664" y="5285232"/>
            <a:ext cx="71323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1027664" y="5285232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🖼️ OSS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502920" y="5943600"/>
            <a:ext cx="112471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dash"/>
          </a:ln>
        </p:spPr>
      </p:sp>
      <p:sp>
        <p:nvSpPr>
          <p:cNvPr id="119" name="Text 117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9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■</a:t>
            </a:r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★ 核心亮点    </a:t>
            </a:r>
            <a:pPr algn="ctr" indent="0" marL="0">
              <a:buNone/>
            </a:pPr>
            <a:r>
              <a:rPr lang="en-US" sz="1200" dirty="0">
                <a:solidFill>
                  <a:srgbClr val="38B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■</a:t>
            </a:r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价值观相关    </a:t>
            </a:r>
            <a:pPr algn="ctr" indent="0" marL="0">
              <a:buNone/>
            </a:pPr>
            <a:r>
              <a:rPr lang="en-US" sz="1200" dirty="0">
                <a:solidFill>
                  <a:srgbClr val="6DD5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■</a:t>
            </a:r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自研模块    </a:t>
            </a:r>
            <a:pPr algn="ctr" indent="0" marL="0">
              <a:buNone/>
            </a:pPr>
            <a:r>
              <a:rPr lang="en-US" sz="1200" dirty="0">
                <a:solidFill>
                  <a:srgbClr val="EEEE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■</a:t>
            </a:r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常规服务  |  </a:t>
            </a:r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数据流向：</a:t>
            </a:r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自上而下 · 上层调用下层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F9F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CHAPTER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D9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技术选型 · 前后端全链路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技术选型 · 前后端全链路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30352" y="1444752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417320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FF7EB3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FRONTEND · 前端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71800" y="1581912"/>
            <a:ext cx="621792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9235440" y="1399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钉钉 H5 微应用 · 同源跨端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0352" y="1810512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1A1A1A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783080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FFE8F0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1828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⚡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6072" y="2075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Vue 3 + Vite + 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" y="233172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前端主框架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76072" y="25146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组合式 API · 编译快 · 类型安全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46704" y="1810512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1A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3319272" y="1783080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FFFEF8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92424" y="1828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92424" y="2075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Vant 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92424" y="233172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移动 UI · 钉钉 H5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392424" y="25146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移动端原生体验,按需引入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63056" y="1810512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1A1A1A"/>
          </a:solidFill>
          <a:ln/>
        </p:spPr>
      </p:sp>
      <p:sp>
        <p:nvSpPr>
          <p:cNvPr id="24" name="Shape 22"/>
          <p:cNvSpPr/>
          <p:nvPr/>
        </p:nvSpPr>
        <p:spPr>
          <a:xfrm>
            <a:off x="6135624" y="1783080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FFFEF8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08776" y="1828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🖥️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08776" y="2075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Element Plus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08776" y="233172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桌面 UI · HR 后台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208776" y="25146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表格 / 表单 / 图表场景成熟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979408" y="1810512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1A1A1A"/>
          </a:solidFill>
          <a:ln/>
        </p:spPr>
      </p:sp>
      <p:sp>
        <p:nvSpPr>
          <p:cNvPr id="30" name="Shape 28"/>
          <p:cNvSpPr/>
          <p:nvPr/>
        </p:nvSpPr>
        <p:spPr>
          <a:xfrm>
            <a:off x="8951976" y="1783080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FFFCE0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25128" y="1828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🔗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025128" y="2075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dingtalk-jsapi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025128" y="233172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钉钉 JS 桥接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9025128" y="25146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统一手机 / 桌面端 API 调用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30352" y="2953512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1A1A1A"/>
          </a:solidFill>
          <a:ln/>
        </p:spPr>
      </p:sp>
      <p:sp>
        <p:nvSpPr>
          <p:cNvPr id="36" name="Shape 34"/>
          <p:cNvSpPr/>
          <p:nvPr/>
        </p:nvSpPr>
        <p:spPr>
          <a:xfrm>
            <a:off x="502920" y="2926080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4FACFE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926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BACKEND · 后端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971800" y="3090672"/>
            <a:ext cx="621792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9235440" y="29077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 单体二进制 · 静态部署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30352" y="3319272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1A1A1A"/>
          </a:solidFill>
          <a:ln/>
        </p:spPr>
      </p:sp>
      <p:sp>
        <p:nvSpPr>
          <p:cNvPr id="41" name="Shape 39"/>
          <p:cNvSpPr/>
          <p:nvPr/>
        </p:nvSpPr>
        <p:spPr>
          <a:xfrm>
            <a:off x="502920" y="3291840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FFFEF8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" y="33375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🌐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76072" y="35844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Gin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76072" y="384048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 框架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76072" y="4023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 生态主流,性能高、上手快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346704" y="3319272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1A1A1A"/>
          </a:solidFill>
          <a:ln/>
        </p:spPr>
      </p:sp>
      <p:sp>
        <p:nvSpPr>
          <p:cNvPr id="47" name="Shape 45"/>
          <p:cNvSpPr/>
          <p:nvPr/>
        </p:nvSpPr>
        <p:spPr>
          <a:xfrm>
            <a:off x="3319272" y="3291840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FFFEF8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92424" y="33375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🗄️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392424" y="35844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GORM + sqlx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392424" y="384048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ORM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392424" y="4023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 ORM + 复杂查询场景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163056" y="3319272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1A1A1A"/>
          </a:solidFill>
          <a:ln/>
        </p:spPr>
      </p:sp>
      <p:sp>
        <p:nvSpPr>
          <p:cNvPr id="53" name="Shape 51"/>
          <p:cNvSpPr/>
          <p:nvPr/>
        </p:nvSpPr>
        <p:spPr>
          <a:xfrm>
            <a:off x="6135624" y="3291840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FFFEF8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08776" y="33375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⚙️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208776" y="35844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asynq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208776" y="384048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任务队列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208776" y="4023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 Redis · Go 主流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8979408" y="3319272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1A1A1A"/>
          </a:solidFill>
          <a:ln/>
        </p:spPr>
      </p:sp>
      <p:sp>
        <p:nvSpPr>
          <p:cNvPr id="59" name="Shape 57"/>
          <p:cNvSpPr/>
          <p:nvPr/>
        </p:nvSpPr>
        <p:spPr>
          <a:xfrm>
            <a:off x="8951976" y="3291840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4FACFE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025128" y="33375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⚡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9025128" y="35844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Server 自研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025128" y="384048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JSON-RPC over SSE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9025128" y="4023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官方 Go SDK 不稳,自研更轻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30352" y="4462272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1A1A1A"/>
          </a:solidFill>
          <a:ln/>
        </p:spPr>
      </p:sp>
      <p:sp>
        <p:nvSpPr>
          <p:cNvPr id="65" name="Shape 63"/>
          <p:cNvSpPr/>
          <p:nvPr/>
        </p:nvSpPr>
        <p:spPr>
          <a:xfrm>
            <a:off x="502920" y="4434840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38B6A8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2920" y="4434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· INTEGRATION · INFRA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971800" y="4599432"/>
            <a:ext cx="621792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dash"/>
          </a:ln>
        </p:spPr>
      </p:sp>
      <p:sp>
        <p:nvSpPr>
          <p:cNvPr id="68" name="Text 66"/>
          <p:cNvSpPr/>
          <p:nvPr/>
        </p:nvSpPr>
        <p:spPr>
          <a:xfrm>
            <a:off x="9235440" y="44165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模型 · 钉钉集成 · 基础设施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30352" y="4828032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1A1A1A"/>
          </a:solidFill>
          <a:ln/>
        </p:spPr>
      </p:sp>
      <p:sp>
        <p:nvSpPr>
          <p:cNvPr id="70" name="Shape 68"/>
          <p:cNvSpPr/>
          <p:nvPr/>
        </p:nvSpPr>
        <p:spPr>
          <a:xfrm>
            <a:off x="502920" y="4800600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FFFCE0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6072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🧠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576072" y="50932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4.6 + DeepSeek V3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76072" y="534924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576072" y="55321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Function Calling 强 + 降本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3346704" y="4828032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1A1A1A"/>
          </a:solidFill>
          <a:ln/>
        </p:spPr>
      </p:sp>
      <p:sp>
        <p:nvSpPr>
          <p:cNvPr id="76" name="Shape 74"/>
          <p:cNvSpPr/>
          <p:nvPr/>
        </p:nvSpPr>
        <p:spPr>
          <a:xfrm>
            <a:off x="3319272" y="4800600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FFFEF8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392424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🎨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3392424" y="50932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通义万相 / SD-XL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392424" y="534924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图像生成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3392424" y="55321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国内可用、API 简单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6163056" y="4828032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1A1A1A"/>
          </a:solidFill>
          <a:ln/>
        </p:spPr>
      </p:sp>
      <p:sp>
        <p:nvSpPr>
          <p:cNvPr id="82" name="Shape 80"/>
          <p:cNvSpPr/>
          <p:nvPr/>
        </p:nvSpPr>
        <p:spPr>
          <a:xfrm>
            <a:off x="6135624" y="4800600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FFFEF8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208776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🔊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6208776" y="50932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火山 / Edge-TTS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6208776" y="534924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TTS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208776" y="55321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中文表现好、成本可控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8979408" y="4828032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1A1A1A"/>
          </a:solidFill>
          <a:ln/>
        </p:spPr>
      </p:sp>
      <p:sp>
        <p:nvSpPr>
          <p:cNvPr id="88" name="Shape 86"/>
          <p:cNvSpPr/>
          <p:nvPr/>
        </p:nvSpPr>
        <p:spPr>
          <a:xfrm>
            <a:off x="8951976" y="4800600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FFFEF8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025128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📲</a:t>
            </a:r>
            <a:endParaRPr lang="en-US" sz="1300" dirty="0"/>
          </a:p>
        </p:txBody>
      </p:sp>
      <p:sp>
        <p:nvSpPr>
          <p:cNvPr id="90" name="Text 88"/>
          <p:cNvSpPr/>
          <p:nvPr/>
        </p:nvSpPr>
        <p:spPr>
          <a:xfrm>
            <a:off x="9025128" y="50932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alibabacloud-go/dingtalk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9025128" y="534924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钉钉服务端 SDK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9025128" y="55321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钉钉官方维护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530352" y="5897880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1A1A1A"/>
          </a:solidFill>
          <a:ln/>
        </p:spPr>
      </p:sp>
      <p:sp>
        <p:nvSpPr>
          <p:cNvPr id="94" name="Shape 92"/>
          <p:cNvSpPr/>
          <p:nvPr/>
        </p:nvSpPr>
        <p:spPr>
          <a:xfrm>
            <a:off x="502920" y="5870448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FFE8F0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76072" y="5916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📍</a:t>
            </a:r>
            <a:endParaRPr lang="en-US" sz="1300" dirty="0"/>
          </a:p>
        </p:txBody>
      </p:sp>
      <p:sp>
        <p:nvSpPr>
          <p:cNvPr id="96" name="Text 94"/>
          <p:cNvSpPr/>
          <p:nvPr/>
        </p:nvSpPr>
        <p:spPr>
          <a:xfrm>
            <a:off x="576072" y="61630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签到自研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576072" y="64190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H5+二维码+GPS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576072" y="66019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钉钉考勤 API 只读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3346704" y="5897880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1A1A1A"/>
          </a:solidFill>
          <a:ln/>
        </p:spPr>
      </p:sp>
      <p:sp>
        <p:nvSpPr>
          <p:cNvPr id="100" name="Shape 98"/>
          <p:cNvSpPr/>
          <p:nvPr/>
        </p:nvSpPr>
        <p:spPr>
          <a:xfrm>
            <a:off x="3319272" y="5870448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FFFEF8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392424" y="5916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🏢</a:t>
            </a:r>
            <a:endParaRPr lang="en-US" sz="1300" dirty="0"/>
          </a:p>
        </p:txBody>
      </p:sp>
      <p:sp>
        <p:nvSpPr>
          <p:cNvPr id="102" name="Text 100"/>
          <p:cNvSpPr/>
          <p:nvPr/>
        </p:nvSpPr>
        <p:spPr>
          <a:xfrm>
            <a:off x="3392424" y="61630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共享库 + tenant_id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3392424" y="64190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多租户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3392424" y="66019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演示与中小规模足够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6163056" y="5897880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1A1A1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6135624" y="5870448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FFFEF8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208776" y="5916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📦</a:t>
            </a:r>
            <a:endParaRPr lang="en-US" sz="1300" dirty="0"/>
          </a:p>
        </p:txBody>
      </p:sp>
      <p:sp>
        <p:nvSpPr>
          <p:cNvPr id="108" name="Text 106"/>
          <p:cNvSpPr/>
          <p:nvPr/>
        </p:nvSpPr>
        <p:spPr>
          <a:xfrm>
            <a:off x="6208776" y="61630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静态二进制 + Docker</a:t>
            </a:r>
            <a:endParaRPr lang="en-US" sz="1000" dirty="0"/>
          </a:p>
        </p:txBody>
      </p:sp>
      <p:sp>
        <p:nvSpPr>
          <p:cNvPr id="109" name="Text 107"/>
          <p:cNvSpPr/>
          <p:nvPr/>
        </p:nvSpPr>
        <p:spPr>
          <a:xfrm>
            <a:off x="6208776" y="64190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部署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6208776" y="66019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镜像小、启动快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8979408" y="5897880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1A1A1A"/>
          </a:solidFill>
          <a:ln/>
        </p:spPr>
      </p:sp>
      <p:sp>
        <p:nvSpPr>
          <p:cNvPr id="112" name="Shape 110"/>
          <p:cNvSpPr/>
          <p:nvPr/>
        </p:nvSpPr>
        <p:spPr>
          <a:xfrm>
            <a:off x="8951976" y="5870448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FFFEF8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025128" y="5916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💡</a:t>
            </a:r>
            <a:endParaRPr lang="en-US" sz="1300" dirty="0"/>
          </a:p>
        </p:txBody>
      </p:sp>
      <p:sp>
        <p:nvSpPr>
          <p:cNvPr id="114" name="Text 112"/>
          <p:cNvSpPr/>
          <p:nvPr/>
        </p:nvSpPr>
        <p:spPr>
          <a:xfrm>
            <a:off x="9025128" y="61630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HTTP 直连 LLM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9025128" y="64190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SDK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9025128" y="66019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无官方 Go SDK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CHAPTER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D9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周开发排期 · 责任到天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周开发排期 · 责任到天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必保 / 次要 / 可砍 三级优先级 · 风险前置识别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7784" y="1563624"/>
            <a:ext cx="11247120" cy="4297680"/>
          </a:xfrm>
          <a:prstGeom prst="roundRect">
            <a:avLst>
              <a:gd name="adj" fmla="val 3830"/>
            </a:avLst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508760"/>
            <a:ext cx="11247120" cy="4297680"/>
          </a:xfrm>
          <a:prstGeom prst="roundRect">
            <a:avLst>
              <a:gd name="adj" fmla="val 3830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554480"/>
            <a:ext cx="18516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Week 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57900" y="1554480"/>
            <a:ext cx="18516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Week 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909560" y="1554480"/>
            <a:ext cx="18516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Week 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761220" y="1554480"/>
            <a:ext cx="18516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Week 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06240" y="1856232"/>
            <a:ext cx="0" cy="3886200"/>
          </a:xfrm>
          <a:prstGeom prst="line">
            <a:avLst/>
          </a:prstGeom>
          <a:noFill/>
          <a:ln w="12700">
            <a:solidFill>
              <a:srgbClr val="DDDDDD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057900" y="1856232"/>
            <a:ext cx="0" cy="3886200"/>
          </a:xfrm>
          <a:prstGeom prst="line">
            <a:avLst/>
          </a:prstGeom>
          <a:noFill/>
          <a:ln w="12700">
            <a:solidFill>
              <a:srgbClr val="DDDDDD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909560" y="1856232"/>
            <a:ext cx="0" cy="3886200"/>
          </a:xfrm>
          <a:prstGeom prst="line">
            <a:avLst/>
          </a:prstGeom>
          <a:noFill/>
          <a:ln w="12700">
            <a:solidFill>
              <a:srgbClr val="DDDDDD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9761220" y="1856232"/>
            <a:ext cx="0" cy="3886200"/>
          </a:xfrm>
          <a:prstGeom prst="line">
            <a:avLst/>
          </a:prstGeom>
          <a:noFill/>
          <a:ln w="12700">
            <a:solidFill>
              <a:srgbClr val="DDDDDD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1612880" y="1856232"/>
            <a:ext cx="0" cy="3886200"/>
          </a:xfrm>
          <a:prstGeom prst="line">
            <a:avLst/>
          </a:prstGeom>
          <a:noFill/>
          <a:ln w="12700">
            <a:solidFill>
              <a:srgbClr val="DDDDDD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40080" y="1892808"/>
            <a:ext cx="1051560" cy="201168"/>
          </a:xfrm>
          <a:prstGeom prst="roundRect">
            <a:avLst>
              <a:gd name="adj" fmla="val 18182"/>
            </a:avLst>
          </a:prstGeom>
          <a:solidFill>
            <a:srgbClr val="FF9F4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18928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基础设施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0080" y="213055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 项目骨架/多租户/权限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224528" y="2157984"/>
            <a:ext cx="529046" cy="164592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/>
        </p:spPr>
      </p:sp>
      <p:sp>
        <p:nvSpPr>
          <p:cNvPr id="22" name="Shape 20"/>
          <p:cNvSpPr/>
          <p:nvPr/>
        </p:nvSpPr>
        <p:spPr>
          <a:xfrm>
            <a:off x="4206240" y="2148840"/>
            <a:ext cx="529046" cy="164592"/>
          </a:xfrm>
          <a:prstGeom prst="roundRect">
            <a:avLst>
              <a:gd name="adj" fmla="val 16667"/>
            </a:avLst>
          </a:prstGeom>
          <a:solidFill>
            <a:srgbClr val="FF9F43"/>
          </a:solidFill>
          <a:ln w="1524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35000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价值观引擎/维度配置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3574" y="2377440"/>
            <a:ext cx="529046" cy="164592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/>
        </p:spPr>
      </p:sp>
      <p:sp>
        <p:nvSpPr>
          <p:cNvPr id="25" name="Shape 23"/>
          <p:cNvSpPr/>
          <p:nvPr/>
        </p:nvSpPr>
        <p:spPr>
          <a:xfrm>
            <a:off x="4735286" y="2368296"/>
            <a:ext cx="529046" cy="164592"/>
          </a:xfrm>
          <a:prstGeom prst="roundRect">
            <a:avLst>
              <a:gd name="adj" fmla="val 16667"/>
            </a:avLst>
          </a:prstGeom>
          <a:solidFill>
            <a:srgbClr val="FF9F43"/>
          </a:solidFill>
          <a:ln w="1524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56946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积分/活动/商品 CRUD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282619" y="2596896"/>
            <a:ext cx="793569" cy="164592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/>
        </p:spPr>
      </p:sp>
      <p:sp>
        <p:nvSpPr>
          <p:cNvPr id="28" name="Shape 26"/>
          <p:cNvSpPr/>
          <p:nvPr/>
        </p:nvSpPr>
        <p:spPr>
          <a:xfrm>
            <a:off x="5264331" y="2587752"/>
            <a:ext cx="793569" cy="164592"/>
          </a:xfrm>
          <a:prstGeom prst="roundRect">
            <a:avLst>
              <a:gd name="adj" fmla="val 16667"/>
            </a:avLst>
          </a:prstGeom>
          <a:solidFill>
            <a:srgbClr val="FF9F43"/>
          </a:solidFill>
          <a:ln w="15240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78892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自研签到模块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3574" y="2816352"/>
            <a:ext cx="1058091" cy="164592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/>
        </p:spPr>
      </p:sp>
      <p:sp>
        <p:nvSpPr>
          <p:cNvPr id="31" name="Shape 29"/>
          <p:cNvSpPr/>
          <p:nvPr/>
        </p:nvSpPr>
        <p:spPr>
          <a:xfrm>
            <a:off x="4735286" y="2807208"/>
            <a:ext cx="1058091" cy="164592"/>
          </a:xfrm>
          <a:prstGeom prst="roundRect">
            <a:avLst>
              <a:gd name="adj" fmla="val 16667"/>
            </a:avLst>
          </a:prstGeom>
          <a:solidFill>
            <a:srgbClr val="6DD5A3"/>
          </a:solidFill>
          <a:ln w="15240">
            <a:solidFill>
              <a:srgbClr val="1A1A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3008376"/>
            <a:ext cx="1051560" cy="201168"/>
          </a:xfrm>
          <a:prstGeom prst="roundRect">
            <a:avLst>
              <a:gd name="adj" fmla="val 18182"/>
            </a:avLst>
          </a:prstGeom>
          <a:solidFill>
            <a:srgbClr val="4FACFE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008376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与开放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0080" y="324612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HR-Agent + MCP 工具集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76188" y="3273552"/>
            <a:ext cx="1058091" cy="164592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/>
        </p:spPr>
      </p:sp>
      <p:sp>
        <p:nvSpPr>
          <p:cNvPr id="36" name="Shape 34"/>
          <p:cNvSpPr/>
          <p:nvPr/>
        </p:nvSpPr>
        <p:spPr>
          <a:xfrm>
            <a:off x="6057900" y="3264408"/>
            <a:ext cx="1058091" cy="164592"/>
          </a:xfrm>
          <a:prstGeom prst="roundRect">
            <a:avLst>
              <a:gd name="adj" fmla="val 16667"/>
            </a:avLst>
          </a:prstGeom>
          <a:solidFill>
            <a:srgbClr val="FF4757"/>
          </a:solidFill>
          <a:ln w="15240">
            <a:solidFill>
              <a:srgbClr val="1A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46557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对外 MCP Server + REST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134279" y="3493008"/>
            <a:ext cx="793569" cy="164592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/>
        </p:spPr>
      </p:sp>
      <p:sp>
        <p:nvSpPr>
          <p:cNvPr id="39" name="Shape 37"/>
          <p:cNvSpPr/>
          <p:nvPr/>
        </p:nvSpPr>
        <p:spPr>
          <a:xfrm>
            <a:off x="7115991" y="3483864"/>
            <a:ext cx="793569" cy="164592"/>
          </a:xfrm>
          <a:prstGeom prst="roundRect">
            <a:avLst>
              <a:gd name="adj" fmla="val 16667"/>
            </a:avLst>
          </a:prstGeom>
          <a:solidFill>
            <a:srgbClr val="4FACFE"/>
          </a:solidFill>
          <a:ln w="15240">
            <a:solidFill>
              <a:srgbClr val="1A1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368503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内容生成/价值观注入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134279" y="3712464"/>
            <a:ext cx="529046" cy="164592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/>
        </p:spPr>
      </p:sp>
      <p:sp>
        <p:nvSpPr>
          <p:cNvPr id="42" name="Shape 40"/>
          <p:cNvSpPr/>
          <p:nvPr/>
        </p:nvSpPr>
        <p:spPr>
          <a:xfrm>
            <a:off x="7115991" y="3703320"/>
            <a:ext cx="529046" cy="164592"/>
          </a:xfrm>
          <a:prstGeom prst="roundRect">
            <a:avLst>
              <a:gd name="adj" fmla="val 16667"/>
            </a:avLst>
          </a:prstGeom>
          <a:solidFill>
            <a:srgbClr val="FF7EB3"/>
          </a:solidFill>
          <a:ln w="15240">
            <a:solidFill>
              <a:srgbClr val="1A1A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" y="3904488"/>
            <a:ext cx="1051560" cy="201168"/>
          </a:xfrm>
          <a:prstGeom prst="roundRect">
            <a:avLst>
              <a:gd name="adj" fmla="val 18182"/>
            </a:avLst>
          </a:prstGeom>
          <a:solidFill>
            <a:srgbClr val="38B6A8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390448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集成与洞察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40080" y="414223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钉钉深度集成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927848" y="4169664"/>
            <a:ext cx="1058091" cy="164592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/>
        </p:spPr>
      </p:sp>
      <p:sp>
        <p:nvSpPr>
          <p:cNvPr id="47" name="Shape 45"/>
          <p:cNvSpPr/>
          <p:nvPr/>
        </p:nvSpPr>
        <p:spPr>
          <a:xfrm>
            <a:off x="7909560" y="4160520"/>
            <a:ext cx="1058091" cy="164592"/>
          </a:xfrm>
          <a:prstGeom prst="roundRect">
            <a:avLst>
              <a:gd name="adj" fmla="val 16667"/>
            </a:avLst>
          </a:prstGeom>
          <a:solidFill>
            <a:srgbClr val="38B6A8"/>
          </a:solidFill>
          <a:ln w="15240">
            <a:solidFill>
              <a:srgbClr val="1A1A1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436168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数据洞察 + 价值观平衡引擎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985939" y="4389120"/>
            <a:ext cx="793569" cy="164592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/>
        </p:spPr>
      </p:sp>
      <p:sp>
        <p:nvSpPr>
          <p:cNvPr id="50" name="Shape 48"/>
          <p:cNvSpPr/>
          <p:nvPr/>
        </p:nvSpPr>
        <p:spPr>
          <a:xfrm>
            <a:off x="8967651" y="4379976"/>
            <a:ext cx="793569" cy="164592"/>
          </a:xfrm>
          <a:prstGeom prst="roundRect">
            <a:avLst>
              <a:gd name="adj" fmla="val 16667"/>
            </a:avLst>
          </a:prstGeom>
          <a:solidFill>
            <a:srgbClr val="A55EEA"/>
          </a:solidFill>
          <a:ln w="15240">
            <a:solidFill>
              <a:srgbClr val="1A1A1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458114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跨企业指数榜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9779508" y="4608576"/>
            <a:ext cx="793569" cy="164592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/>
        </p:spPr>
      </p:sp>
      <p:sp>
        <p:nvSpPr>
          <p:cNvPr id="53" name="Shape 51"/>
          <p:cNvSpPr/>
          <p:nvPr/>
        </p:nvSpPr>
        <p:spPr>
          <a:xfrm>
            <a:off x="9761220" y="4599432"/>
            <a:ext cx="793569" cy="164592"/>
          </a:xfrm>
          <a:prstGeom prst="roundRect">
            <a:avLst>
              <a:gd name="adj" fmla="val 16667"/>
            </a:avLst>
          </a:prstGeom>
          <a:solidFill>
            <a:srgbClr val="A55EEA"/>
          </a:solidFill>
          <a:ln w="15240">
            <a:solidFill>
              <a:srgbClr val="1A1A1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0080" y="4800600"/>
            <a:ext cx="1051560" cy="201168"/>
          </a:xfrm>
          <a:prstGeom prst="roundRect">
            <a:avLst>
              <a:gd name="adj" fmla="val 18182"/>
            </a:avLst>
          </a:prstGeom>
          <a:solidFill>
            <a:srgbClr val="A55EEA"/>
          </a:solidFill>
          <a:ln/>
        </p:spPr>
      </p:sp>
      <p:sp>
        <p:nvSpPr>
          <p:cNvPr id="55" name="Text 53"/>
          <p:cNvSpPr/>
          <p:nvPr/>
        </p:nvSpPr>
        <p:spPr>
          <a:xfrm>
            <a:off x="640080" y="480060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收尾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40080" y="503834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钉钉工作台卡片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9779508" y="5065776"/>
            <a:ext cx="529046" cy="164592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/>
        </p:spPr>
      </p:sp>
      <p:sp>
        <p:nvSpPr>
          <p:cNvPr id="58" name="Shape 56"/>
          <p:cNvSpPr/>
          <p:nvPr/>
        </p:nvSpPr>
        <p:spPr>
          <a:xfrm>
            <a:off x="9761220" y="5056632"/>
            <a:ext cx="529046" cy="164592"/>
          </a:xfrm>
          <a:prstGeom prst="roundRect">
            <a:avLst>
              <a:gd name="adj" fmla="val 16667"/>
            </a:avLst>
          </a:prstGeom>
          <a:solidFill>
            <a:srgbClr val="B8932B"/>
          </a:solidFill>
          <a:ln w="15240">
            <a:solidFill>
              <a:srgbClr val="1A1A1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" y="525780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盲盒主持 + 反作弊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0308554" y="5285232"/>
            <a:ext cx="793569" cy="164592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/>
        </p:spPr>
      </p:sp>
      <p:sp>
        <p:nvSpPr>
          <p:cNvPr id="61" name="Shape 59"/>
          <p:cNvSpPr/>
          <p:nvPr/>
        </p:nvSpPr>
        <p:spPr>
          <a:xfrm>
            <a:off x="10290266" y="5276088"/>
            <a:ext cx="793569" cy="164592"/>
          </a:xfrm>
          <a:prstGeom prst="roundRect">
            <a:avLst>
              <a:gd name="adj" fmla="val 16667"/>
            </a:avLst>
          </a:prstGeom>
          <a:solidFill>
            <a:srgbClr val="FF7EB3"/>
          </a:solidFill>
          <a:ln w="15240">
            <a:solidFill>
              <a:srgbClr val="1A1A1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" y="547725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Demo 录制 + 路演彩排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1102122" y="5504688"/>
            <a:ext cx="529046" cy="164592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/>
        </p:spPr>
      </p:sp>
      <p:sp>
        <p:nvSpPr>
          <p:cNvPr id="64" name="Shape 62"/>
          <p:cNvSpPr/>
          <p:nvPr/>
        </p:nvSpPr>
        <p:spPr>
          <a:xfrm>
            <a:off x="11083834" y="5495544"/>
            <a:ext cx="529046" cy="164592"/>
          </a:xfrm>
          <a:prstGeom prst="roundRect">
            <a:avLst>
              <a:gd name="adj" fmla="val 16667"/>
            </a:avLst>
          </a:prstGeom>
          <a:solidFill>
            <a:srgbClr val="FF4757"/>
          </a:solidFill>
          <a:ln w="15240">
            <a:solidFill>
              <a:srgbClr val="1A1A1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57784" y="6044184"/>
            <a:ext cx="3657600" cy="777240"/>
          </a:xfrm>
          <a:prstGeom prst="roundRect">
            <a:avLst>
              <a:gd name="adj" fmla="val 21176"/>
            </a:avLst>
          </a:prstGeom>
          <a:solidFill>
            <a:srgbClr val="6DD5A3"/>
          </a:solidFill>
          <a:ln/>
        </p:spPr>
      </p:sp>
      <p:sp>
        <p:nvSpPr>
          <p:cNvPr id="66" name="Shape 64"/>
          <p:cNvSpPr/>
          <p:nvPr/>
        </p:nvSpPr>
        <p:spPr>
          <a:xfrm>
            <a:off x="502920" y="5989320"/>
            <a:ext cx="3657600" cy="777240"/>
          </a:xfrm>
          <a:prstGeom prst="roundRect">
            <a:avLst>
              <a:gd name="adj" fmla="val 21176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60350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DD5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★ 必保 (MUST)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40080" y="6300216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HR-Agent · 开放 MCP · 价值观引擎 · 自研签到 · 钉钉日程+卡片+群机器人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334256" y="6044184"/>
            <a:ext cx="3657600" cy="777240"/>
          </a:xfrm>
          <a:prstGeom prst="roundRect">
            <a:avLst>
              <a:gd name="adj" fmla="val 21176"/>
            </a:avLst>
          </a:prstGeom>
          <a:solidFill>
            <a:srgbClr val="FF9F43"/>
          </a:solidFill>
          <a:ln/>
        </p:spPr>
      </p:sp>
      <p:sp>
        <p:nvSpPr>
          <p:cNvPr id="70" name="Shape 68"/>
          <p:cNvSpPr/>
          <p:nvPr/>
        </p:nvSpPr>
        <p:spPr>
          <a:xfrm>
            <a:off x="4279392" y="5989320"/>
            <a:ext cx="3657600" cy="777240"/>
          </a:xfrm>
          <a:prstGeom prst="roundRect">
            <a:avLst>
              <a:gd name="adj" fmla="val 21176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16552" y="60350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9F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▲ 次要 (SHOULD)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416552" y="6300216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盲盒主持 · AI 内容生成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8110728" y="6044184"/>
            <a:ext cx="3657600" cy="777240"/>
          </a:xfrm>
          <a:prstGeom prst="roundRect">
            <a:avLst>
              <a:gd name="adj" fmla="val 21176"/>
            </a:avLst>
          </a:prstGeom>
          <a:solidFill>
            <a:srgbClr val="FF4757"/>
          </a:solidFill>
          <a:ln/>
        </p:spPr>
      </p:sp>
      <p:sp>
        <p:nvSpPr>
          <p:cNvPr id="74" name="Shape 72"/>
          <p:cNvSpPr/>
          <p:nvPr/>
        </p:nvSpPr>
        <p:spPr>
          <a:xfrm>
            <a:off x="8055864" y="5989320"/>
            <a:ext cx="3657600" cy="777240"/>
          </a:xfrm>
          <a:prstGeom prst="roundRect">
            <a:avLst>
              <a:gd name="adj" fmla="val 21176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193024" y="60350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4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○ 可砍 (COULD)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8193024" y="6300216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反作弊 · 跨企业指数 (保留最小演示版本)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4FACF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CHAPTER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D9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Demo 演示脚本 · 总时长 6 分钟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Demo 演示脚本 · 总时长 6 分钟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 8 段式编排,可根据现场压缩至 5 分钟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" y="1719072"/>
            <a:ext cx="11219688" cy="50292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691640"/>
            <a:ext cx="1121968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916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280160" y="1783080"/>
            <a:ext cx="640080" cy="320040"/>
          </a:xfrm>
          <a:prstGeom prst="roundRect">
            <a:avLst>
              <a:gd name="adj" fmla="val 11429"/>
            </a:avLst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1783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169164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痛点呈现：Excel 管理截图与负数积分实例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2267712"/>
            <a:ext cx="11219688" cy="50292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2240280"/>
            <a:ext cx="11219688" cy="502920"/>
          </a:xfrm>
          <a:prstGeom prst="roundRect">
            <a:avLst>
              <a:gd name="adj" fmla="val 10909"/>
            </a:avLst>
          </a:prstGeom>
          <a:solidFill>
            <a:srgbClr val="FFF5E8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2402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F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280160" y="2331720"/>
            <a:ext cx="640080" cy="320040"/>
          </a:xfrm>
          <a:prstGeom prst="roundRect">
            <a:avLst>
              <a:gd name="adj" fmla="val 11429"/>
            </a:avLst>
          </a:prstGeom>
          <a:solidFill>
            <a:srgbClr val="FF9F43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23317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224028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HR-Agent：自然语言"发布团队协作维度活动" → 自动建活动+日程+卡片+群播报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" y="2816352"/>
            <a:ext cx="11219688" cy="502920"/>
          </a:xfrm>
          <a:prstGeom prst="roundRect">
            <a:avLst>
              <a:gd name="adj" fmla="val 10909"/>
            </a:avLst>
          </a:prstGeom>
          <a:solidFill>
            <a:srgbClr val="FF4757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2788920"/>
            <a:ext cx="11219688" cy="502920"/>
          </a:xfrm>
          <a:prstGeom prst="roundRect">
            <a:avLst>
              <a:gd name="adj" fmla="val 10909"/>
            </a:avLst>
          </a:prstGeom>
          <a:solidFill>
            <a:srgbClr val="FFE5E5"/>
          </a:solidFill>
          <a:ln w="31750">
            <a:solidFill>
              <a:srgbClr val="FF47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7889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280160" y="2880360"/>
            <a:ext cx="640080" cy="320040"/>
          </a:xfrm>
          <a:prstGeom prst="roundRect">
            <a:avLst>
              <a:gd name="adj" fmla="val 11429"/>
            </a:avLst>
          </a:prstGeom>
          <a:solidFill>
            <a:srgbClr val="FF4757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28803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75s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57400" y="278892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★ 开放 MCP：Claude Desktop 连接 MCP Server,自然语言完成"查月度前 3 名 / 加分 / 颁发徽章"全链路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" y="3364992"/>
            <a:ext cx="11219688" cy="50292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3337560"/>
            <a:ext cx="11219688" cy="502920"/>
          </a:xfrm>
          <a:prstGeom prst="roundRect">
            <a:avLst>
              <a:gd name="adj" fmla="val 10909"/>
            </a:avLst>
          </a:prstGeom>
          <a:solidFill>
            <a:srgbClr val="E8FFF0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337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DD5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280160" y="3429000"/>
            <a:ext cx="640080" cy="320040"/>
          </a:xfrm>
          <a:prstGeom prst="roundRect">
            <a:avLst>
              <a:gd name="adj" fmla="val 11429"/>
            </a:avLst>
          </a:prstGeom>
          <a:solidFill>
            <a:srgbClr val="6DD5A3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0160" y="34290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45s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057400" y="333756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签到加分：员工扫二维码 → 自研签到校验 → 积分入账 + 触发成就 → 钉钉通知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0352" y="3913632"/>
            <a:ext cx="11219688" cy="502920"/>
          </a:xfrm>
          <a:prstGeom prst="roundRect">
            <a:avLst>
              <a:gd name="adj" fmla="val 10909"/>
            </a:avLst>
          </a:prstGeom>
          <a:solidFill>
            <a:srgbClr val="38B6A8"/>
          </a:solidFill>
          <a:ln/>
        </p:spPr>
      </p:sp>
      <p:sp>
        <p:nvSpPr>
          <p:cNvPr id="32" name="Shape 30"/>
          <p:cNvSpPr/>
          <p:nvPr/>
        </p:nvSpPr>
        <p:spPr>
          <a:xfrm>
            <a:off x="502920" y="3886200"/>
            <a:ext cx="11219688" cy="502920"/>
          </a:xfrm>
          <a:prstGeom prst="roundRect">
            <a:avLst>
              <a:gd name="adj" fmla="val 10909"/>
            </a:avLst>
          </a:prstGeom>
          <a:solidFill>
            <a:srgbClr val="E8FFFB"/>
          </a:solidFill>
          <a:ln w="31750">
            <a:solidFill>
              <a:srgbClr val="38B6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8862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6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⑤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1280160" y="3977640"/>
            <a:ext cx="640080" cy="320040"/>
          </a:xfrm>
          <a:prstGeom prst="roundRect">
            <a:avLst>
              <a:gd name="adj" fmla="val 11429"/>
            </a:avLst>
          </a:prstGeom>
          <a:solidFill>
            <a:srgbClr val="38B6A8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80160" y="39776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057400" y="388620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★ 价值观洞察：自然语言查询"哪个维度参与度最低" → AI 给出归因与建议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30352" y="4462272"/>
            <a:ext cx="11219688" cy="50292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/>
        </p:spPr>
      </p:sp>
      <p:sp>
        <p:nvSpPr>
          <p:cNvPr id="38" name="Shape 36"/>
          <p:cNvSpPr/>
          <p:nvPr/>
        </p:nvSpPr>
        <p:spPr>
          <a:xfrm>
            <a:off x="502920" y="4434840"/>
            <a:ext cx="11219688" cy="502920"/>
          </a:xfrm>
          <a:prstGeom prst="roundRect">
            <a:avLst>
              <a:gd name="adj" fmla="val 10909"/>
            </a:avLst>
          </a:prstGeom>
          <a:solidFill>
            <a:srgbClr val="FFEEF5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4348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7E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⑥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1280160" y="4526280"/>
            <a:ext cx="640080" cy="320040"/>
          </a:xfrm>
          <a:prstGeom prst="roundRect">
            <a:avLst>
              <a:gd name="adj" fmla="val 11429"/>
            </a:avLst>
          </a:prstGeom>
          <a:solidFill>
            <a:srgbClr val="FF7EB3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80160" y="45262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057400" y="443484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盲盒抽奖：扫码 → AI 主持人语音互动 → 中奖 → 流程闭环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30352" y="5010912"/>
            <a:ext cx="11219688" cy="50292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/>
        </p:spPr>
      </p:sp>
      <p:sp>
        <p:nvSpPr>
          <p:cNvPr id="44" name="Shape 42"/>
          <p:cNvSpPr/>
          <p:nvPr/>
        </p:nvSpPr>
        <p:spPr>
          <a:xfrm>
            <a:off x="502920" y="4983480"/>
            <a:ext cx="11219688" cy="502920"/>
          </a:xfrm>
          <a:prstGeom prst="roundRect">
            <a:avLst>
              <a:gd name="adj" fmla="val 10909"/>
            </a:avLst>
          </a:prstGeom>
          <a:solidFill>
            <a:srgbClr val="E8F4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9834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AC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⑦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1280160" y="5074920"/>
            <a:ext cx="640080" cy="320040"/>
          </a:xfrm>
          <a:prstGeom prst="roundRect">
            <a:avLst>
              <a:gd name="adj" fmla="val 11429"/>
            </a:avLst>
          </a:prstGeom>
          <a:solidFill>
            <a:srgbClr val="4FACFE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80160" y="50749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057400" y="498348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跨企业指数：展示行业内价值观维度排名图谱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30352" y="5559552"/>
            <a:ext cx="11219688" cy="50292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/>
        </p:spPr>
      </p:sp>
      <p:sp>
        <p:nvSpPr>
          <p:cNvPr id="50" name="Shape 48"/>
          <p:cNvSpPr/>
          <p:nvPr/>
        </p:nvSpPr>
        <p:spPr>
          <a:xfrm>
            <a:off x="502920" y="5532120"/>
            <a:ext cx="1121968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55321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⑧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1280160" y="5623560"/>
            <a:ext cx="640080" cy="320040"/>
          </a:xfrm>
          <a:prstGeom prst="roundRect">
            <a:avLst>
              <a:gd name="adj" fmla="val 11429"/>
            </a:avLst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280160" y="56235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057400" y="553212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收尾：架构概览与价值观映射模型回顾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F9F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CHAPTER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D9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风险识别与应对策略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风险识别与应对策略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七大风险均已有明确应对方案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7784" y="1746504"/>
            <a:ext cx="5532120" cy="1143000"/>
          </a:xfrm>
          <a:prstGeom prst="roundRect">
            <a:avLst>
              <a:gd name="adj" fmla="val 14400"/>
            </a:avLst>
          </a:prstGeom>
          <a:solidFill>
            <a:srgbClr val="FF475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691640"/>
            <a:ext cx="5532120" cy="1143000"/>
          </a:xfrm>
          <a:prstGeom prst="roundRect">
            <a:avLst>
              <a:gd name="adj" fmla="val 14400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828800"/>
            <a:ext cx="347472" cy="347472"/>
          </a:xfrm>
          <a:prstGeom prst="ellipse">
            <a:avLst/>
          </a:prstGeom>
          <a:solidFill>
            <a:srgbClr val="FF4757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28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80136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钉钉专业版升级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148840"/>
            <a:ext cx="5166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风险：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标准版配额无法支撑日常运营
</a:t>
            </a:r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应对：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路演明确说明配额预算,体现工程预判能力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08776" y="1746504"/>
            <a:ext cx="5532120" cy="1143000"/>
          </a:xfrm>
          <a:prstGeom prst="roundRect">
            <a:avLst>
              <a:gd name="adj" fmla="val 14400"/>
            </a:avLst>
          </a:prstGeom>
          <a:solidFill>
            <a:srgbClr val="4FACFE"/>
          </a:solidFill>
          <a:ln/>
        </p:spPr>
      </p:sp>
      <p:sp>
        <p:nvSpPr>
          <p:cNvPr id="14" name="Shape 12"/>
          <p:cNvSpPr/>
          <p:nvPr/>
        </p:nvSpPr>
        <p:spPr>
          <a:xfrm>
            <a:off x="6153912" y="1691640"/>
            <a:ext cx="5532120" cy="1143000"/>
          </a:xfrm>
          <a:prstGeom prst="roundRect">
            <a:avLst>
              <a:gd name="adj" fmla="val 14400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36792" y="1828800"/>
            <a:ext cx="347472" cy="347472"/>
          </a:xfrm>
          <a:prstGeom prst="ellipse">
            <a:avLst/>
          </a:prstGeom>
          <a:solidFill>
            <a:srgbClr val="4FACFE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1828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93992" y="180136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客户端兼容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82512" y="2148840"/>
            <a:ext cx="5166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风险：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Desktop 版本差异
</a:t>
            </a:r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应对：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Demo 使用稳定版,关键场景预录视频备份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" y="3008376"/>
            <a:ext cx="5532120" cy="1143000"/>
          </a:xfrm>
          <a:prstGeom prst="roundRect">
            <a:avLst>
              <a:gd name="adj" fmla="val 14400"/>
            </a:avLst>
          </a:prstGeom>
          <a:solidFill>
            <a:srgbClr val="FF9F43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2953512"/>
            <a:ext cx="5532120" cy="1143000"/>
          </a:xfrm>
          <a:prstGeom prst="roundRect">
            <a:avLst>
              <a:gd name="adj" fmla="val 14400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090672"/>
            <a:ext cx="347472" cy="347472"/>
          </a:xfrm>
          <a:prstGeom prst="ellipse">
            <a:avLst/>
          </a:prstGeom>
          <a:solidFill>
            <a:srgbClr val="FF9F43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0906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📍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0632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签到防作弊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3410712"/>
            <a:ext cx="5166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风险：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自研防作弊存在边界
</a:t>
            </a:r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应对：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GPS + 二维码 + 随机题足够,深度方案纳入后续迭代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08776" y="3008376"/>
            <a:ext cx="5532120" cy="1143000"/>
          </a:xfrm>
          <a:prstGeom prst="roundRect">
            <a:avLst>
              <a:gd name="adj" fmla="val 14400"/>
            </a:avLst>
          </a:prstGeom>
          <a:solidFill>
            <a:srgbClr val="A55EEA"/>
          </a:solidFill>
          <a:ln/>
        </p:spPr>
      </p:sp>
      <p:sp>
        <p:nvSpPr>
          <p:cNvPr id="26" name="Shape 24"/>
          <p:cNvSpPr/>
          <p:nvPr/>
        </p:nvSpPr>
        <p:spPr>
          <a:xfrm>
            <a:off x="6153912" y="2953512"/>
            <a:ext cx="5532120" cy="1143000"/>
          </a:xfrm>
          <a:prstGeom prst="roundRect">
            <a:avLst>
              <a:gd name="adj" fmla="val 14400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36792" y="3090672"/>
            <a:ext cx="347472" cy="347472"/>
          </a:xfrm>
          <a:prstGeom prst="ellipse">
            <a:avLst/>
          </a:prstGeom>
          <a:solidFill>
            <a:srgbClr val="A55EEA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6792" y="30906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🌐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93992" y="30632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跨企业冷启动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82512" y="3410712"/>
            <a:ext cx="5166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风险：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缺少真实合作企业数据
</a:t>
            </a:r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应对：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内置 3 家虚拟对手企业数据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7784" y="4270248"/>
            <a:ext cx="5532120" cy="1143000"/>
          </a:xfrm>
          <a:prstGeom prst="roundRect">
            <a:avLst>
              <a:gd name="adj" fmla="val 14400"/>
            </a:avLst>
          </a:prstGeom>
          <a:solidFill>
            <a:srgbClr val="FF7EB3"/>
          </a:solidFill>
          <a:ln/>
        </p:spPr>
      </p:sp>
      <p:sp>
        <p:nvSpPr>
          <p:cNvPr id="32" name="Shape 30"/>
          <p:cNvSpPr/>
          <p:nvPr/>
        </p:nvSpPr>
        <p:spPr>
          <a:xfrm>
            <a:off x="502920" y="4215384"/>
            <a:ext cx="5532120" cy="1143000"/>
          </a:xfrm>
          <a:prstGeom prst="roundRect">
            <a:avLst>
              <a:gd name="adj" fmla="val 14400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4352544"/>
            <a:ext cx="347472" cy="347472"/>
          </a:xfrm>
          <a:prstGeom prst="ellipse">
            <a:avLst/>
          </a:prstGeom>
          <a:solidFill>
            <a:srgbClr val="FF7EB3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3525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🧠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43000" y="432511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API 不稳定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31520" y="4672584"/>
            <a:ext cx="5166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风险：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路演现场调用超时
</a:t>
            </a:r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应对：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主用 Claude,备 DeepSeek,关键链路预录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08776" y="4270248"/>
            <a:ext cx="5532120" cy="1143000"/>
          </a:xfrm>
          <a:prstGeom prst="roundRect">
            <a:avLst>
              <a:gd name="adj" fmla="val 14400"/>
            </a:avLst>
          </a:prstGeom>
          <a:solidFill>
            <a:srgbClr val="6DD5A3"/>
          </a:solidFill>
          <a:ln/>
        </p:spPr>
      </p:sp>
      <p:sp>
        <p:nvSpPr>
          <p:cNvPr id="38" name="Shape 36"/>
          <p:cNvSpPr/>
          <p:nvPr/>
        </p:nvSpPr>
        <p:spPr>
          <a:xfrm>
            <a:off x="6153912" y="4215384"/>
            <a:ext cx="5532120" cy="1143000"/>
          </a:xfrm>
          <a:prstGeom prst="roundRect">
            <a:avLst>
              <a:gd name="adj" fmla="val 14400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36792" y="4352544"/>
            <a:ext cx="347472" cy="347472"/>
          </a:xfrm>
          <a:prstGeom prst="ellipse">
            <a:avLst/>
          </a:prstGeom>
          <a:solidFill>
            <a:srgbClr val="6DD5A3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36792" y="43525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💎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793992" y="432511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 MCP SDK 不成熟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382512" y="4672584"/>
            <a:ext cx="5166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风险：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缺少现成轮子
</a:t>
            </a:r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应对：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自研轻量 JSON-RPC 实现,作为技术亮点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57784" y="5532120"/>
            <a:ext cx="11183112" cy="1371600"/>
          </a:xfrm>
          <a:prstGeom prst="roundRect">
            <a:avLst>
              <a:gd name="adj" fmla="val 12000"/>
            </a:avLst>
          </a:prstGeom>
          <a:solidFill>
            <a:srgbClr val="38B6A8"/>
          </a:solidFill>
          <a:ln/>
        </p:spPr>
      </p:sp>
      <p:sp>
        <p:nvSpPr>
          <p:cNvPr id="44" name="Shape 42"/>
          <p:cNvSpPr/>
          <p:nvPr/>
        </p:nvSpPr>
        <p:spPr>
          <a:xfrm>
            <a:off x="502920" y="5477256"/>
            <a:ext cx="11183112" cy="1371600"/>
          </a:xfrm>
          <a:prstGeom prst="roundRect">
            <a:avLst>
              <a:gd name="adj" fmla="val 12000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5800" y="5614416"/>
            <a:ext cx="347472" cy="347472"/>
          </a:xfrm>
          <a:prstGeom prst="ellipse">
            <a:avLst/>
          </a:prstGeom>
          <a:solidFill>
            <a:srgbClr val="38B6A8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56144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🎯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143000" y="5586984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价值观维度配置主观性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31520" y="5934456"/>
            <a:ext cx="108173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风险：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不同企业对价值观的定义差异较大,易陷入"配什么维度都不对"
</a:t>
            </a:r>
            <a:pPr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应对：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提供 6 大典型维度模板 (客户至上 / 团队协作 / 创新求变 / 诚信务实 / 极致专注 / 学习成长),企业可自定义但有最佳实践参考;远期开放"价值观模板市场",行业最佳实践共享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A55EE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CHAPTER 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D9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远期演化路径 · 三阶段战略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远期演化路径 · 三阶段战略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从单企业落地 → 多企业 SaaS → 行业基础设施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7784" y="1883664"/>
            <a:ext cx="3657600" cy="438912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28800"/>
            <a:ext cx="3657600" cy="4389120"/>
          </a:xfrm>
          <a:prstGeom prst="roundRect">
            <a:avLst>
              <a:gd name="adj" fmla="val 4500"/>
            </a:avLst>
          </a:prstGeom>
          <a:solidFill>
            <a:srgbClr val="FFF5E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011680"/>
            <a:ext cx="1371600" cy="329184"/>
          </a:xfrm>
          <a:prstGeom prst="roundRect">
            <a:avLst>
              <a:gd name="adj" fmla="val 11111"/>
            </a:avLst>
          </a:prstGeom>
          <a:solidFill>
            <a:srgbClr val="FF9F43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116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单企业落地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⏱️ 当前阶段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◆"/>
            </a:pPr>
            <a:r>
              <a:rPr lang="en-US" sz="12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 AI 运营闭环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◆"/>
            </a:pPr>
            <a:r>
              <a:rPr lang="en-US" sz="12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价值观维度体系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◆"/>
            </a:pPr>
            <a:r>
              <a:rPr lang="en-US" sz="12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钉钉深度集成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◆"/>
            </a:pPr>
            <a:r>
              <a:rPr lang="en-US" sz="12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HR-Agent + 开放 MCP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5440680"/>
            <a:ext cx="320040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2860">
            <a:solidFill>
              <a:srgbClr val="FF9F43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822960" y="54406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验证产品形态,沉淀首批最佳实践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34256" y="1883664"/>
            <a:ext cx="3657600" cy="438912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4279392" y="1828800"/>
            <a:ext cx="3657600" cy="4389120"/>
          </a:xfrm>
          <a:prstGeom prst="roundRect">
            <a:avLst>
              <a:gd name="adj" fmla="val 4500"/>
            </a:avLst>
          </a:prstGeom>
          <a:solidFill>
            <a:srgbClr val="E8F4FF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07992" y="2011680"/>
            <a:ext cx="1371600" cy="329184"/>
          </a:xfrm>
          <a:prstGeom prst="roundRect">
            <a:avLst>
              <a:gd name="adj" fmla="val 11111"/>
            </a:avLst>
          </a:prstGeom>
          <a:solidFill>
            <a:srgbClr val="4FACFE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7992" y="20116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07992" y="2468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多企业 SaaS 化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07992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⏱️ 3-6 个月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07992" y="333756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◆"/>
            </a:pPr>
            <a:r>
              <a:rPr lang="en-US" sz="12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多租户能力上线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◆"/>
            </a:pPr>
            <a:r>
              <a:rPr lang="en-US" sz="12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跨企业指数榜开放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◆"/>
            </a:pPr>
            <a:r>
              <a:rPr lang="en-US" sz="12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价值观模板市场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◆"/>
            </a:pPr>
            <a:r>
              <a:rPr lang="en-US" sz="12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行业最佳实践共享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07992" y="5440680"/>
            <a:ext cx="320040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2860">
            <a:solidFill>
              <a:srgbClr val="4FACFE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599432" y="54406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规模化复制,启动行业数据网络效应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10728" y="1883664"/>
            <a:ext cx="3657600" cy="438912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/>
        </p:spPr>
      </p:sp>
      <p:sp>
        <p:nvSpPr>
          <p:cNvPr id="26" name="Shape 24"/>
          <p:cNvSpPr/>
          <p:nvPr/>
        </p:nvSpPr>
        <p:spPr>
          <a:xfrm>
            <a:off x="8055864" y="1828800"/>
            <a:ext cx="3657600" cy="4389120"/>
          </a:xfrm>
          <a:prstGeom prst="roundRect">
            <a:avLst>
              <a:gd name="adj" fmla="val 4500"/>
            </a:avLst>
          </a:prstGeom>
          <a:solidFill>
            <a:srgbClr val="F5E8FF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84464" y="2011680"/>
            <a:ext cx="1371600" cy="329184"/>
          </a:xfrm>
          <a:prstGeom prst="roundRect">
            <a:avLst>
              <a:gd name="adj" fmla="val 11111"/>
            </a:avLst>
          </a:prstGeom>
          <a:solidFill>
            <a:srgbClr val="A55EEA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84464" y="20116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84464" y="2468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行业基础设施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284464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⏱️ 12 个月+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84464" y="333756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◆"/>
            </a:pPr>
            <a:r>
              <a:rPr lang="en-US" sz="12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企业文化运营数据平台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◆"/>
            </a:pPr>
            <a:r>
              <a:rPr lang="en-US" sz="12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行业价值观图谱定期发布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◆"/>
            </a:pPr>
            <a:r>
              <a:rPr lang="en-US" sz="12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参与行业标准制定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◆"/>
            </a:pPr>
            <a:r>
              <a:rPr lang="en-US" sz="12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 HR 招聘 / 培训生态打通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84464" y="5440680"/>
            <a:ext cx="320040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2860">
            <a:solidFill>
              <a:srgbClr val="A55EEA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8375904" y="54406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成为中国企业文化运营的行业基础设施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08176" cy="292608"/>
          </a:xfrm>
          <a:prstGeom prst="roundRect">
            <a:avLst>
              <a:gd name="adj" fmla="val 50000"/>
            </a:avLst>
          </a:prstGeom>
          <a:solidFill>
            <a:srgbClr val="38B6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D9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价值观维度数据模型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价值观维度数据模型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核心三张表：维度配置 · 积分流水 (维度记账) · 维度积分快照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577840" cy="2423160"/>
          </a:xfrm>
          <a:prstGeom prst="roundRect">
            <a:avLst>
              <a:gd name="adj" fmla="val 3019"/>
            </a:avLst>
          </a:prstGeom>
          <a:solidFill>
            <a:srgbClr val="FFD93D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691640"/>
            <a:ext cx="5577840" cy="2423160"/>
          </a:xfrm>
          <a:prstGeom prst="roundRect">
            <a:avLst>
              <a:gd name="adj" fmla="val 3019"/>
            </a:avLst>
          </a:prstGeom>
          <a:solidFill>
            <a:srgbClr val="1A1A1A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53035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DD5A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-- 价值观维度配置 (租户级)
</a:t>
            </a:r>
            <a:pPr indent="0" marL="0">
              <a:buNone/>
            </a:pPr>
            <a:r>
              <a:rPr lang="en-US" sz="10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CREATE TABLE </a:t>
            </a:r>
            <a:pPr indent="0" marL="0">
              <a:buNone/>
            </a:pPr>
            <a:r>
              <a:rPr lang="en-US" sz="1000" dirty="0">
                <a:solidFill>
                  <a:srgbClr val="A55EE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value_dimensions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(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id </a:t>
            </a:r>
            <a:pPr indent="0" marL="0">
              <a:buNone/>
            </a:pPr>
            <a:r>
              <a:rPr lang="en-US" sz="10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BIGINT PRIMARY KEY,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tenant_id </a:t>
            </a:r>
            <a:pPr indent="0" marL="0">
              <a:buNone/>
            </a:pPr>
            <a:r>
              <a:rPr lang="en-US" sz="10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BIGINT NOT NULL,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code </a:t>
            </a:r>
            <a:pPr indent="0" marL="0">
              <a:buNone/>
            </a:pPr>
            <a:r>
              <a:rPr lang="en-US" sz="10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VARCHAR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4FA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32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 </a:t>
            </a:r>
            <a:pPr indent="0" marL="0">
              <a:buNone/>
            </a:pPr>
            <a:r>
              <a:rPr lang="en-US" sz="10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NOT NULL,
</a:t>
            </a:r>
            <a:pPr indent="0" marL="0">
              <a:buNone/>
            </a:pPr>
            <a:r>
              <a:rPr lang="en-US" sz="1000" dirty="0">
                <a:solidFill>
                  <a:srgbClr val="6DD5A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-- 维度编码 e.g. customer_first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name </a:t>
            </a:r>
            <a:pPr indent="0" marL="0">
              <a:buNone/>
            </a:pPr>
            <a:r>
              <a:rPr lang="en-US" sz="10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VARCHAR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4FA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64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 </a:t>
            </a:r>
            <a:pPr indent="0" marL="0">
              <a:buNone/>
            </a:pPr>
            <a:r>
              <a:rPr lang="en-US" sz="10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NOT NULL,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keywords </a:t>
            </a:r>
            <a:pPr indent="0" marL="0">
              <a:buNone/>
            </a:pPr>
            <a:r>
              <a:rPr lang="en-US" sz="10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VARCHAR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4FA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255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),
</a:t>
            </a:r>
            <a:pPr indent="0" marL="0">
              <a:buNone/>
            </a:pPr>
            <a:r>
              <a:rPr lang="en-US" sz="1000" dirty="0">
                <a:solidFill>
                  <a:srgbClr val="6DD5A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-- 关键词 · 用于 AI Prompt 注入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weight </a:t>
            </a:r>
            <a:pPr indent="0" marL="0">
              <a:buNone/>
            </a:pPr>
            <a:r>
              <a:rPr lang="en-US" sz="10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DECIMAL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4FA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3,2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 </a:t>
            </a:r>
            <a:pPr indent="0" marL="0">
              <a:buNone/>
            </a:pPr>
            <a:r>
              <a:rPr lang="en-US" sz="10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DEFAULT </a:t>
            </a:r>
            <a:pPr indent="0" marL="0">
              <a:buNone/>
            </a:pPr>
            <a:r>
              <a:rPr lang="en-US" sz="1000" dirty="0">
                <a:solidFill>
                  <a:srgbClr val="4FA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1.00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sort_order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 DEFAULT </a:t>
            </a:r>
            <a:pPr indent="0" marL="0">
              <a:buNone/>
            </a:pPr>
            <a:r>
              <a:rPr lang="en-US" sz="1000" dirty="0">
                <a:solidFill>
                  <a:srgbClr val="4FA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0,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enabled </a:t>
            </a:r>
            <a:pPr indent="0" marL="0">
              <a:buNone/>
            </a:pPr>
            <a:r>
              <a:rPr lang="en-US" sz="10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TINYINT DEFAULT </a:t>
            </a:r>
            <a:pPr indent="0" marL="0">
              <a:buNone/>
            </a:pPr>
            <a:r>
              <a:rPr lang="en-US" sz="1000" dirty="0">
                <a:solidFill>
                  <a:srgbClr val="4FA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1,
</a:t>
            </a:r>
            <a:pPr indent="0" marL="0">
              <a:buNone/>
            </a:pPr>
            <a:r>
              <a:rPr lang="en-US" sz="10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UNIQUE KEY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uk_tenant_code (tenant_id, code)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D93D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425196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1A1A1A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343400"/>
            <a:ext cx="53035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DD5A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-- 积分流水 (维度记账)
</a:t>
            </a:r>
            <a:pPr indent="0" marL="0">
              <a:buNone/>
            </a:pPr>
            <a:r>
              <a:rPr lang="en-US" sz="9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CREATE TABLE </a:t>
            </a:r>
            <a:pPr indent="0" marL="0">
              <a:buNone/>
            </a:pPr>
            <a:r>
              <a:rPr lang="en-US" sz="900" dirty="0">
                <a:solidFill>
                  <a:srgbClr val="A55EE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point_transactions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(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id </a:t>
            </a:r>
            <a:pPr indent="0" marL="0">
              <a:buNone/>
            </a:pPr>
            <a:r>
              <a:rPr lang="en-US" sz="9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BIGINT PRIMARY KEY,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tenant_id </a:t>
            </a:r>
            <a:pPr indent="0" marL="0">
              <a:buNone/>
            </a:pPr>
            <a:r>
              <a:rPr lang="en-US" sz="9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BIGINT NOT NULL,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user_id </a:t>
            </a:r>
            <a:pPr indent="0" marL="0">
              <a:buNone/>
            </a:pPr>
            <a:r>
              <a:rPr lang="en-US" sz="9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BIGINT NOT NULL,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dimension_id </a:t>
            </a:r>
            <a:pPr indent="0" marL="0">
              <a:buNone/>
            </a:pPr>
            <a:r>
              <a:rPr lang="en-US" sz="9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BIGINT NOT NULL,  </a:t>
            </a:r>
            <a:pPr indent="0" marL="0">
              <a:buNone/>
            </a:pPr>
            <a:r>
              <a:rPr lang="en-US" sz="900" dirty="0">
                <a:solidFill>
                  <a:srgbClr val="6DD5A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-- 价值观维度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amount </a:t>
            </a:r>
            <a:pPr indent="0" marL="0">
              <a:buNone/>
            </a:pPr>
            <a:r>
              <a:rPr lang="en-US" sz="9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 NOT NULL,  </a:t>
            </a:r>
            <a:pPr indent="0" marL="0">
              <a:buNone/>
            </a:pPr>
            <a:r>
              <a:rPr lang="en-US" sz="900" dirty="0">
                <a:solidFill>
                  <a:srgbClr val="6DD5A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-- 积分变动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activity_id </a:t>
            </a:r>
            <a:pPr indent="0" marL="0">
              <a:buNone/>
            </a:pPr>
            <a:r>
              <a:rPr lang="en-US" sz="9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BIGINT,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reason </a:t>
            </a:r>
            <a:pPr indent="0" marL="0">
              <a:buNone/>
            </a:pPr>
            <a:r>
              <a:rPr lang="en-US" sz="9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VARCHAR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4FA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255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operator_id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BIGINT,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created_at </a:t>
            </a:r>
            <a:pPr indent="0" marL="0">
              <a:buNone/>
            </a:pPr>
            <a:r>
              <a:rPr lang="en-US" sz="9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TIMESTAMP,
</a:t>
            </a:r>
            <a:pPr indent="0" marL="0">
              <a:buNone/>
            </a:pPr>
            <a:r>
              <a:rPr lang="en-US" sz="9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INDEX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idx_user_dim (user_id, dimension_id),
</a:t>
            </a:r>
            <a:pPr indent="0" marL="0">
              <a:buNone/>
            </a:pPr>
            <a:r>
              <a:rPr lang="en-US" sz="9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INDEX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idx_tenant_dim_time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(tenant_id, dimension_id, created_at)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);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09360" y="1737360"/>
            <a:ext cx="5486400" cy="2606040"/>
          </a:xfrm>
          <a:prstGeom prst="roundRect">
            <a:avLst>
              <a:gd name="adj" fmla="val 2807"/>
            </a:avLst>
          </a:prstGeom>
          <a:solidFill>
            <a:srgbClr val="FFD93D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3640" y="1691640"/>
            <a:ext cx="5486400" cy="2606040"/>
          </a:xfrm>
          <a:prstGeom prst="roundRect">
            <a:avLst>
              <a:gd name="adj" fmla="val 2807"/>
            </a:avLst>
          </a:prstGeom>
          <a:solidFill>
            <a:srgbClr val="1A1A1A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783080"/>
            <a:ext cx="521208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DD5A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-- 员工维度积分快照
</a:t>
            </a:r>
            <a:pPr indent="0" marL="0">
              <a:buNone/>
            </a:pPr>
            <a:r>
              <a:rPr lang="en-US" sz="1000" dirty="0">
                <a:solidFill>
                  <a:srgbClr val="6DD5A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-- 用于雷达图与排行榜
</a:t>
            </a:r>
            <a:pPr indent="0" marL="0">
              <a:buNone/>
            </a:pPr>
            <a:r>
              <a:rPr lang="en-US" sz="10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CREATE TABLE </a:t>
            </a:r>
            <a:pPr indent="0" marL="0">
              <a:buNone/>
            </a:pPr>
            <a:r>
              <a:rPr lang="en-US" sz="1000" dirty="0">
                <a:solidFill>
                  <a:srgbClr val="A55EE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user_dimension_scores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(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user_id </a:t>
            </a:r>
            <a:pPr indent="0" marL="0">
              <a:buNone/>
            </a:pPr>
            <a:r>
              <a:rPr lang="en-US" sz="10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BIGINT NOT NULL,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tenant_id </a:t>
            </a:r>
            <a:pPr indent="0" marL="0">
              <a:buNone/>
            </a:pPr>
            <a:r>
              <a:rPr lang="en-US" sz="10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BIGINT NOT NULL,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dimension_id </a:t>
            </a:r>
            <a:pPr indent="0" marL="0">
              <a:buNone/>
            </a:pPr>
            <a:r>
              <a:rPr lang="en-US" sz="10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BIGINT NOT NULL,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total_score </a:t>
            </a:r>
            <a:pPr indent="0" marL="0">
              <a:buNone/>
            </a:pPr>
            <a:r>
              <a:rPr lang="en-US" sz="10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 DEFAULT </a:t>
            </a:r>
            <a:pPr indent="0" marL="0">
              <a:buNone/>
            </a:pPr>
            <a:r>
              <a:rPr lang="en-US" sz="1000" dirty="0">
                <a:solidFill>
                  <a:srgbClr val="4FA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0,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quarter_score </a:t>
            </a:r>
            <a:pPr indent="0" marL="0">
              <a:buNone/>
            </a:pPr>
            <a:r>
              <a:rPr lang="en-US" sz="10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 DEFAULT </a:t>
            </a:r>
            <a:pPr indent="0" marL="0">
              <a:buNone/>
            </a:pPr>
            <a:r>
              <a:rPr lang="en-US" sz="1000" dirty="0">
                <a:solidFill>
                  <a:srgbClr val="4FA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0,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year_score </a:t>
            </a:r>
            <a:pPr indent="0" marL="0">
              <a:buNone/>
            </a:pPr>
            <a:r>
              <a:rPr lang="en-US" sz="10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 DEFAULT </a:t>
            </a:r>
            <a:pPr indent="0" marL="0">
              <a:buNone/>
            </a:pPr>
            <a:r>
              <a:rPr lang="en-US" sz="1000" dirty="0">
                <a:solidFill>
                  <a:srgbClr val="4FA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0,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updated_at </a:t>
            </a:r>
            <a:pPr indent="0" marL="0">
              <a:buNone/>
            </a:pPr>
            <a:r>
              <a:rPr lang="en-US" sz="10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TIMESTAMP,
</a:t>
            </a:r>
            <a:pPr indent="0" marL="0">
              <a:buNone/>
            </a:pPr>
            <a:r>
              <a:rPr lang="en-US" sz="1000" b="1" dirty="0">
                <a:solidFill>
                  <a:srgbClr val="FF7EB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PRIMARY KEY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(user_id, dimension_id)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18504" y="4535424"/>
            <a:ext cx="5486400" cy="2011680"/>
          </a:xfrm>
          <a:prstGeom prst="roundRect">
            <a:avLst>
              <a:gd name="adj" fmla="val 8182"/>
            </a:avLst>
          </a:prstGeom>
          <a:solidFill>
            <a:srgbClr val="FFD93D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4480560"/>
            <a:ext cx="5486400" cy="2011680"/>
          </a:xfrm>
          <a:prstGeom prst="roundRect">
            <a:avLst>
              <a:gd name="adj" fmla="val 8182"/>
            </a:avLst>
          </a:prstGeom>
          <a:solidFill>
            <a:srgbClr val="FFFEF8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4617720"/>
            <a:ext cx="365760" cy="365760"/>
          </a:xfrm>
          <a:prstGeom prst="ellipse">
            <a:avLst/>
          </a:prstGeom>
          <a:solidFill>
            <a:srgbClr val="FFD93D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🎯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设计要点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5029200"/>
            <a:ext cx="5120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维度配置租户级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：每个企业可独立配置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流水必带维度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：保证每分都可追溯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快照表加速查询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：雷达图 / 排行榜性能保障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keywords 字段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：直接喂给 LLM Prompt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D9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★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645920" y="731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7E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0" y="5120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4FAC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★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297680" y="137160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谢谢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4206240" y="1298448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F4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谢谢</a:t>
            </a:r>
            <a:endParaRPr lang="en-US" sz="8200" dirty="0"/>
          </a:p>
        </p:txBody>
      </p:sp>
      <p:sp>
        <p:nvSpPr>
          <p:cNvPr id="7" name="Text 5"/>
          <p:cNvSpPr/>
          <p:nvPr/>
        </p:nvSpPr>
        <p:spPr>
          <a:xfrm>
            <a:off x="2743200" y="30175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spc="400" kern="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Thank You !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0" y="379476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🧑‍💼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5303520" y="379476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🤖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7406640" y="379476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💎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3200400" y="4937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HR-AI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4937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06640" y="4937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VALUE ENGINE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45536" y="5477256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1A1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3108960" y="544068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FF4757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54406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 &amp; 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74336" y="5477256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1A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4937760" y="544068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FD93D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54406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43216" y="5477256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1A1A1A"/>
          </a:solidFill>
          <a:ln/>
        </p:spPr>
      </p:sp>
      <p:sp>
        <p:nvSpPr>
          <p:cNvPr id="21" name="Shape 19"/>
          <p:cNvSpPr/>
          <p:nvPr/>
        </p:nvSpPr>
        <p:spPr>
          <a:xfrm>
            <a:off x="7406640" y="544068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4FACFE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54406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0" y="62179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Culture Points Mall · AI Operating Platform
</a:t>
            </a:r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Standard Software Team · borak@gkkvip.cc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058400" y="612648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47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0" y="61264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4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v5 ·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文化积分商城 · AI 智能运营平台 | 项目方案 v5</dc:title>
  <dc:subject>PptxGenJS Presentation</dc:subject>
  <dc:creator>Standard Software Team</dc:creator>
  <cp:lastModifiedBy>Standard Software Team</cp:lastModifiedBy>
  <cp:revision>1</cp:revision>
  <dcterms:created xsi:type="dcterms:W3CDTF">2026-05-22T04:02:50Z</dcterms:created>
  <dcterms:modified xsi:type="dcterms:W3CDTF">2026-05-22T04:02:50Z</dcterms:modified>
</cp:coreProperties>
</file>